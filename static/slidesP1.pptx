
<file path=[Content_Types].xml><?xml version="1.0" encoding="utf-8"?>
<Types xmlns="http://schemas.openxmlformats.org/package/2006/content-types">
  <Default Extension="jpeg" ContentType="image/jpeg"/>
  <Default Extension="mkv" ContentType="video/unknown"/>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14"/>
  </p:notesMasterIdLst>
  <p:sldIdLst>
    <p:sldId id="265" r:id="rId3"/>
    <p:sldId id="287" r:id="rId4"/>
    <p:sldId id="282" r:id="rId5"/>
    <p:sldId id="288" r:id="rId6"/>
    <p:sldId id="281" r:id="rId7"/>
    <p:sldId id="279" r:id="rId8"/>
    <p:sldId id="284" r:id="rId9"/>
    <p:sldId id="278" r:id="rId10"/>
    <p:sldId id="268" r:id="rId11"/>
    <p:sldId id="286" r:id="rId12"/>
    <p:sldId id="28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AA48F-9020-4EBD-9AB2-C2F92F1ACD3F}" v="2" dt="2024-04-12T06:36:03.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6" autoAdjust="0"/>
    <p:restoredTop sz="34052" autoAdjust="0"/>
  </p:normalViewPr>
  <p:slideViewPr>
    <p:cSldViewPr snapToGrid="0">
      <p:cViewPr varScale="1">
        <p:scale>
          <a:sx n="30" d="100"/>
          <a:sy n="30" d="100"/>
        </p:scale>
        <p:origin x="2346" y="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2T20:11:41.927"/>
    </inkml:context>
    <inkml:brush xml:id="br0">
      <inkml:brushProperty name="width" value="0.05" units="cm"/>
      <inkml:brushProperty name="height" value="0.05" units="cm"/>
    </inkml:brush>
  </inkml:definitions>
  <inkml:trace contextRef="#ctx0" brushRef="#br0">1334 1734 24575,'-75'-4'0,"-129"-23"0,154 19 0,-10-2 0,0-3 0,-79-27 0,129 35 0,0 0 0,0 0 0,0-1 0,1 0 0,0 0 0,0-1 0,1 0 0,-13-14 0,10 11 0,0 1 0,-1 1 0,0 0 0,-17-8 0,17 9 0,-1 0 0,1-1 0,0-1 0,-14-12 0,19 14 0,-2 0 0,-13-9 0,-9-6 0,-29-21 0,45 34 0,0-1 0,1 0 0,1-1 0,-21-21 0,-35-40 0,-4-5 0,62 65 0,2-1 0,0-1 0,0 1 0,-10-25 0,6 12 0,-19-30 0,24 42 0,4 6 0,0-1 0,0 1 0,1-1 0,0 0 0,0 0 0,1-1 0,1 1 0,-2-14 0,2-1 0,4-49 0,-1 64 0,-1 0 0,1 0 0,0 1 0,1-1 0,6-14 0,25-38 0,-10 19 0,-13 24 0,0 1 0,0-1 0,2 2 0,0 0 0,1 0 0,17-13 0,-5 6 0,2 2 0,55-33 0,-40 32 0,-26 13 0,1-1 0,19-14 0,-11 5 0,-12 10 0,21-19 0,-22 17 0,1 0 0,0 1 0,20-11 0,-17 11 0,-1 0 0,19-16 0,-21 15 0,-1 1 0,2 0 0,-1 1 0,1 1 0,1 0 0,0 1 0,0 1 0,21-5 0,-6 3 0,0 2 0,1 1 0,49-2 0,-67 6 0,1-1 0,-1 0 0,17-6 0,-14 4 0,27-4 0,115-5 0,-79 8 0,81 4 0,-72 2 0,-78 0 0,-1 0 0,1 1 0,-1 1 0,0-1 0,0 1 0,15 7 0,-11-4 0,-1-1 0,24 5 0,-10-5 0,0-1 0,0-1 0,1-1 0,-1-1 0,43-5 0,-53 2 0,0 0 0,0 1 0,1 0 0,-1 2 0,26 3 0,62 6 0,-24-4 0,-35-2 0,-30-4 0,-1 2 0,0-1 0,0 2 0,23 6 0,-29-5 0,-1 0 0,15 10 0,9 4 0,-12-9 0,0 1 0,0 0 0,-1 2 0,-1 0 0,0 1 0,-1 1 0,0 1 0,-2 0 0,1 1 0,-2 1 0,19 27 0,-14-12 0,22 53 0,-30-60 0,1 0 0,0-1 0,2-1 0,26 35 0,-34-51 0,-1 0 0,-1 1 0,1-1 0,-1 1 0,-1 0 0,1 0 0,-1 1 0,-1-1 0,1 1 0,-2-1 0,2 14 0,0 11 0,-4 57 0,0-42 0,1-6 0,-2 46 0,2-78 0,-2-1 0,0 1 0,0 0 0,0-1 0,-1 0 0,-8 16 0,-38 90 0,11-23 0,-22 18 0,55-102 0,0 0 0,-1 0 0,-1 0 0,1-1 0,-1 0 0,-15 11 0,-16 18 0,28-24 0,0-1 0,-1-1 0,0 1 0,-1-2 0,0 0 0,0 0 0,-16 7 0,13-8 0,-1-1 0,0 0 0,0-1 0,-1-1 0,0-1 0,1 0 0,-2-2 0,1 1 0,-22-1 0,-65 4 0,12 1 0,-15-8 0,-54 2 0,63 12 0,90-12 0,1 0 0,-1 1 0,1 0 0,0 0 0,-10 5 0,10-4 0,-1 0 0,0 0 0,0-1 0,-14 2 0,-82 10 0,49-6 0,-80 2 0,48-11-1365,72 1-5461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E0201-ECC8-4C74-AE40-497FABA7ED31}" type="datetimeFigureOut">
              <a:rPr lang="en-US" smtClean="0"/>
              <a:t>4/12/2024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5F9861-5879-4F8D-8B29-3BB4B6AE43FF}" type="slidenum">
              <a:rPr lang="en-US" smtClean="0"/>
              <a:t>‹#›</a:t>
            </a:fld>
            <a:endParaRPr lang="en-US"/>
          </a:p>
        </p:txBody>
      </p:sp>
    </p:spTree>
    <p:extLst>
      <p:ext uri="{BB962C8B-B14F-4D97-AF65-F5344CB8AC3E}">
        <p14:creationId xmlns:p14="http://schemas.microsoft.com/office/powerpoint/2010/main" val="205708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I’m Vedika and I’ll be talking about </a:t>
            </a:r>
            <a:r>
              <a:rPr lang="en-US" sz="1800" b="1" i="0" u="none" strike="noStrike" dirty="0" err="1">
                <a:solidFill>
                  <a:srgbClr val="000000"/>
                </a:solidFill>
                <a:effectLst/>
                <a:latin typeface="Times New Roman" panose="02020603050405020304" pitchFamily="18" charset="0"/>
              </a:rPr>
              <a:t>LoLAPP</a:t>
            </a:r>
            <a:r>
              <a:rPr lang="en-US" sz="1800" b="1" i="0" u="none" strike="noStrike" dirty="0">
                <a:solidFill>
                  <a:srgbClr val="000000"/>
                </a:solidFill>
                <a:effectLst/>
                <a:latin typeface="Times New Roman" panose="02020603050405020304" pitchFamily="18" charset="0"/>
              </a:rPr>
              <a:t>: Application level IoC generator. Imagine a burglar who wants to break into a house. Instead of bringing their own lock-picking tools, they simply use the spare key under the mat, the ladder in the backyard, and the open window to get in. Would you suspect ? No, right ! Now imagine this house to be your company, and just like you – your EDR/SIEM tool  fails to detect the presence of a threat actor who is well-blended into the environment. Yes, Fileless malware attacks - These attacks are especially hard to detect since they use legitimate, built-in OS tools. On top of that, these attacks can hide and be fully conducted in memory.</a:t>
            </a:r>
            <a:endParaRPr lang="en-US" b="0" dirty="0">
              <a:effectLst/>
            </a:endParaRPr>
          </a:p>
          <a:p>
            <a:br>
              <a:rPr lang="en-US" dirty="0"/>
            </a:br>
            <a:endParaRPr dirty="0"/>
          </a:p>
        </p:txBody>
      </p:sp>
      <p:sp>
        <p:nvSpPr>
          <p:cNvPr id="78" name="Google Shape;7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Very recently, Open Source Projects such as </a:t>
            </a:r>
            <a:r>
              <a:rPr lang="en-US" sz="1800" b="1" i="0" u="none" strike="noStrike" dirty="0" err="1">
                <a:solidFill>
                  <a:srgbClr val="000000"/>
                </a:solidFill>
                <a:effectLst/>
                <a:latin typeface="Times New Roman" panose="02020603050405020304" pitchFamily="18" charset="0"/>
              </a:rPr>
              <a:t>LoLBAS</a:t>
            </a:r>
            <a:r>
              <a:rPr lang="en-US" sz="1800" b="1" i="0" u="none" strike="noStrike" dirty="0">
                <a:solidFill>
                  <a:srgbClr val="000000"/>
                </a:solidFill>
                <a:effectLst/>
                <a:latin typeface="Times New Roman" panose="02020603050405020304" pitchFamily="18" charset="0"/>
              </a:rPr>
              <a:t> and </a:t>
            </a:r>
            <a:r>
              <a:rPr lang="en-US" sz="1800" b="1" i="0" u="none" strike="noStrike" dirty="0" err="1">
                <a:solidFill>
                  <a:srgbClr val="000000"/>
                </a:solidFill>
                <a:effectLst/>
                <a:latin typeface="Times New Roman" panose="02020603050405020304" pitchFamily="18" charset="0"/>
              </a:rPr>
              <a:t>GTFOBin</a:t>
            </a:r>
            <a:r>
              <a:rPr lang="en-US" sz="1800" b="1" i="0" u="none" strike="noStrike" dirty="0">
                <a:solidFill>
                  <a:srgbClr val="000000"/>
                </a:solidFill>
                <a:effectLst/>
                <a:latin typeface="Times New Roman" panose="02020603050405020304" pitchFamily="18" charset="0"/>
              </a:rPr>
              <a:t> for windows and </a:t>
            </a:r>
            <a:r>
              <a:rPr lang="en-US" sz="1800" b="1" i="0" u="none" strike="noStrike" dirty="0" err="1">
                <a:solidFill>
                  <a:srgbClr val="000000"/>
                </a:solidFill>
                <a:effectLst/>
                <a:latin typeface="Times New Roman" panose="02020603050405020304" pitchFamily="18" charset="0"/>
              </a:rPr>
              <a:t>linux</a:t>
            </a:r>
            <a:r>
              <a:rPr lang="en-US" sz="1800" b="1" i="0" u="none" strike="noStrike" dirty="0">
                <a:solidFill>
                  <a:srgbClr val="000000"/>
                </a:solidFill>
                <a:effectLst/>
                <a:latin typeface="Times New Roman" panose="02020603050405020304" pitchFamily="18" charset="0"/>
              </a:rPr>
              <a:t> related binaries were incorporated into Splunk for better detection. However, tweaking binaries isn’t that simple of a task and that’s why threat actors have come up with something more easier for </a:t>
            </a:r>
            <a:r>
              <a:rPr lang="en-US" sz="1800" b="1" i="0" u="none" strike="noStrike" dirty="0" err="1">
                <a:solidFill>
                  <a:srgbClr val="000000"/>
                </a:solidFill>
                <a:effectLst/>
                <a:latin typeface="Times New Roman" panose="02020603050405020304" pitchFamily="18" charset="0"/>
              </a:rPr>
              <a:t>minimising</a:t>
            </a:r>
            <a:r>
              <a:rPr lang="en-US" sz="1800" b="1" i="0" u="none" strike="noStrike" dirty="0">
                <a:solidFill>
                  <a:srgbClr val="000000"/>
                </a:solidFill>
                <a:effectLst/>
                <a:latin typeface="Times New Roman" panose="02020603050405020304" pitchFamily="18" charset="0"/>
              </a:rPr>
              <a:t> the digital footprint and avoiding detection techniques. </a:t>
            </a:r>
            <a:r>
              <a:rPr lang="en-US" sz="1800" b="1" i="0" u="none" strike="noStrike" dirty="0" err="1">
                <a:solidFill>
                  <a:srgbClr val="000000"/>
                </a:solidFill>
                <a:effectLst/>
                <a:latin typeface="Times New Roman" panose="02020603050405020304" pitchFamily="18" charset="0"/>
              </a:rPr>
              <a:t>Softwares</a:t>
            </a:r>
            <a:r>
              <a:rPr lang="en-US" sz="1800" b="1" i="0" u="none" strike="noStrike" dirty="0">
                <a:solidFill>
                  <a:srgbClr val="000000"/>
                </a:solidFill>
                <a:effectLst/>
                <a:latin typeface="Times New Roman" panose="02020603050405020304" pitchFamily="18" charset="0"/>
              </a:rPr>
              <a:t>!! Dual-use </a:t>
            </a:r>
            <a:r>
              <a:rPr lang="en-US" sz="1800" b="1" i="0" u="none" strike="noStrike" dirty="0" err="1">
                <a:solidFill>
                  <a:srgbClr val="000000"/>
                </a:solidFill>
                <a:effectLst/>
                <a:latin typeface="Times New Roman" panose="02020603050405020304" pitchFamily="18" charset="0"/>
              </a:rPr>
              <a:t>softwares</a:t>
            </a:r>
            <a:r>
              <a:rPr lang="en-US" sz="1800" b="1" i="0" u="none" strike="noStrike" dirty="0">
                <a:solidFill>
                  <a:srgbClr val="000000"/>
                </a:solidFill>
                <a:effectLst/>
                <a:latin typeface="Times New Roman" panose="02020603050405020304" pitchFamily="18" charset="0"/>
              </a:rPr>
              <a:t> such as RMM tool. If you look at the threat intel data - you’d know 70% ransomwares cases involve usage of RMM tools for lateral movement, data exfiltration and persistence.</a:t>
            </a:r>
          </a:p>
          <a:p>
            <a:pPr algn="just" rtl="0">
              <a:spcBef>
                <a:spcPts val="0"/>
              </a:spcBef>
              <a:spcAft>
                <a:spcPts val="0"/>
              </a:spcAft>
            </a:pPr>
            <a:endParaRPr lang="en-US" sz="1800" b="1" i="0" u="none" strike="noStrike" dirty="0">
              <a:solidFill>
                <a:srgbClr val="000000"/>
              </a:solidFill>
              <a:effectLst/>
              <a:latin typeface="Times New Roman" panose="02020603050405020304" pitchFamily="18" charset="0"/>
            </a:endParaRPr>
          </a:p>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Here we’re talking about </a:t>
            </a:r>
            <a:r>
              <a:rPr lang="en-US" sz="1800" b="1" i="0" u="none" strike="noStrike" dirty="0" err="1">
                <a:solidFill>
                  <a:srgbClr val="000000"/>
                </a:solidFill>
                <a:effectLst/>
                <a:latin typeface="Times New Roman" panose="02020603050405020304" pitchFamily="18" charset="0"/>
              </a:rPr>
              <a:t>behaviour</a:t>
            </a:r>
            <a:r>
              <a:rPr lang="en-US" sz="1800" b="1" i="0" u="none" strike="noStrike" dirty="0">
                <a:solidFill>
                  <a:srgbClr val="000000"/>
                </a:solidFill>
                <a:effectLst/>
                <a:latin typeface="Times New Roman" panose="02020603050405020304" pitchFamily="18" charset="0"/>
              </a:rPr>
              <a:t> of the software rather than software ! These RMM </a:t>
            </a:r>
            <a:r>
              <a:rPr lang="en-US" sz="1800" b="1" i="0" u="none" strike="noStrike" dirty="0" err="1">
                <a:solidFill>
                  <a:srgbClr val="000000"/>
                </a:solidFill>
                <a:effectLst/>
                <a:latin typeface="Times New Roman" panose="02020603050405020304" pitchFamily="18" charset="0"/>
              </a:rPr>
              <a:t>softwares</a:t>
            </a:r>
            <a:r>
              <a:rPr lang="en-US" sz="1800" b="1" i="0" u="none" strike="noStrike" dirty="0">
                <a:solidFill>
                  <a:srgbClr val="000000"/>
                </a:solidFill>
                <a:effectLst/>
                <a:latin typeface="Times New Roman" panose="02020603050405020304" pitchFamily="18" charset="0"/>
              </a:rPr>
              <a:t> are easy to acquire, easy to use and easy to hide. How this </a:t>
            </a:r>
            <a:r>
              <a:rPr lang="en-US" sz="1800" b="1" i="0" u="none" strike="noStrike" dirty="0" err="1">
                <a:solidFill>
                  <a:srgbClr val="000000"/>
                </a:solidFill>
                <a:effectLst/>
                <a:latin typeface="Times New Roman" panose="02020603050405020304" pitchFamily="18" charset="0"/>
              </a:rPr>
              <a:t>materialises</a:t>
            </a:r>
            <a:r>
              <a:rPr lang="en-US" sz="1800" b="1" i="0" u="none" strike="noStrike" dirty="0">
                <a:solidFill>
                  <a:srgbClr val="000000"/>
                </a:solidFill>
                <a:effectLst/>
                <a:latin typeface="Times New Roman" panose="02020603050405020304" pitchFamily="18" charset="0"/>
              </a:rPr>
              <a:t> is in free and easy access 15 days demos of the tool. And these trials are also available to threat actors. Most of these tools are cloud based so that takes away another step from TA as they don't have to host their own infrastructure. These tools have verified signatures and are whitelisted across all the platforms. So even if there’s an attack - they’ll end up being part of the spreadsheets - GIGs of logs!!!</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35F9861-5879-4F8D-8B29-3BB4B6AE43FF}" type="slidenum">
              <a:rPr lang="en-US" smtClean="0"/>
              <a:t>2</a:t>
            </a:fld>
            <a:endParaRPr lang="en-US"/>
          </a:p>
        </p:txBody>
      </p:sp>
    </p:spTree>
    <p:extLst>
      <p:ext uri="{BB962C8B-B14F-4D97-AF65-F5344CB8AC3E}">
        <p14:creationId xmlns:p14="http://schemas.microsoft.com/office/powerpoint/2010/main" val="447415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5F9861-5879-4F8D-8B29-3BB4B6AE43FF}" type="slidenum">
              <a:rPr lang="en-US" smtClean="0"/>
              <a:t>3</a:t>
            </a:fld>
            <a:endParaRPr lang="en-US"/>
          </a:p>
        </p:txBody>
      </p:sp>
    </p:spTree>
    <p:extLst>
      <p:ext uri="{BB962C8B-B14F-4D97-AF65-F5344CB8AC3E}">
        <p14:creationId xmlns:p14="http://schemas.microsoft.com/office/powerpoint/2010/main" val="815711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It is a very valid question why someone would use this tool if they already have paid-SIEM/Threat detection tools. Well,  I believe that a SIEM is one of the most capable detection solutions </a:t>
            </a:r>
            <a:r>
              <a:rPr lang="en-US" sz="1800" b="1" i="0" u="none" strike="noStrike" dirty="0" err="1">
                <a:solidFill>
                  <a:srgbClr val="000000"/>
                </a:solidFill>
                <a:effectLst/>
                <a:latin typeface="Times New Roman" panose="02020603050405020304" pitchFamily="18" charset="0"/>
              </a:rPr>
              <a:t>available.However</a:t>
            </a:r>
            <a:r>
              <a:rPr lang="en-US" sz="1800" b="1" i="0" u="none" strike="noStrike" dirty="0">
                <a:solidFill>
                  <a:srgbClr val="000000"/>
                </a:solidFill>
                <a:effectLst/>
                <a:latin typeface="Times New Roman" panose="02020603050405020304" pitchFamily="18" charset="0"/>
              </a:rPr>
              <a:t>, “most capable” does not necessarily mean “best.” . A SIEM is only as good as the data you feed </a:t>
            </a:r>
            <a:r>
              <a:rPr lang="en-US" sz="1800" b="1" i="0" u="none" strike="noStrike" dirty="0" err="1">
                <a:solidFill>
                  <a:srgbClr val="000000"/>
                </a:solidFill>
                <a:effectLst/>
                <a:latin typeface="Times New Roman" panose="02020603050405020304" pitchFamily="18" charset="0"/>
              </a:rPr>
              <a:t>it.A</a:t>
            </a:r>
            <a:r>
              <a:rPr lang="en-US" sz="1800" b="1" i="0" u="none" strike="noStrike" dirty="0">
                <a:solidFill>
                  <a:srgbClr val="000000"/>
                </a:solidFill>
                <a:effectLst/>
                <a:latin typeface="Times New Roman" panose="02020603050405020304" pitchFamily="18" charset="0"/>
              </a:rPr>
              <a:t> SIEM can’t automate information security domain expertise and application of your logs to your specific needs. Once the data is in your SIEM, you must be the one to tell the SIEM what to do with it. Basically, it is like buying a toy. The batteries are not included. You must go get them and plug them in. Cool toy…no batteries.</a:t>
            </a:r>
            <a:endParaRPr lang="en-US" b="0" dirty="0">
              <a:effectLst/>
            </a:endParaRPr>
          </a:p>
          <a:p>
            <a:pPr algn="just" rtl="0">
              <a:spcBef>
                <a:spcPts val="0"/>
              </a:spcBef>
              <a:spcAft>
                <a:spcPts val="0"/>
              </a:spcAft>
            </a:pPr>
            <a:br>
              <a:rPr lang="en-US" b="0" dirty="0">
                <a:effectLst/>
              </a:rPr>
            </a:br>
            <a:r>
              <a:rPr lang="en-US" sz="1800" b="1" i="0" u="none" strike="noStrike" dirty="0">
                <a:solidFill>
                  <a:srgbClr val="000000"/>
                </a:solidFill>
                <a:effectLst/>
                <a:latin typeface="Times New Roman" panose="02020603050405020304" pitchFamily="18" charset="0"/>
              </a:rPr>
              <a:t>There is so much I can fit on this slide but one of my </a:t>
            </a:r>
            <a:r>
              <a:rPr lang="en-US" sz="1800" b="1" i="0" u="none" strike="noStrike" dirty="0" err="1">
                <a:solidFill>
                  <a:srgbClr val="000000"/>
                </a:solidFill>
                <a:effectLst/>
                <a:latin typeface="Times New Roman" panose="02020603050405020304" pitchFamily="18" charset="0"/>
              </a:rPr>
              <a:t>favourites</a:t>
            </a:r>
            <a:r>
              <a:rPr lang="en-US" sz="1800" b="1" i="0" u="none" strike="noStrike" dirty="0">
                <a:solidFill>
                  <a:srgbClr val="000000"/>
                </a:solidFill>
                <a:effectLst/>
                <a:latin typeface="Times New Roman" panose="02020603050405020304" pitchFamily="18" charset="0"/>
              </a:rPr>
              <a:t> that slows down the process of analysis is SIEM overstuffed with data - useless data. A SIEM should augment analysis, not hinder it. Put simply: less is more.</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35F9861-5879-4F8D-8B29-3BB4B6AE43FF}" type="slidenum">
              <a:rPr lang="en-US" smtClean="0"/>
              <a:t>4</a:t>
            </a:fld>
            <a:endParaRPr lang="en-US"/>
          </a:p>
        </p:txBody>
      </p:sp>
    </p:spTree>
    <p:extLst>
      <p:ext uri="{BB962C8B-B14F-4D97-AF65-F5344CB8AC3E}">
        <p14:creationId xmlns:p14="http://schemas.microsoft.com/office/powerpoint/2010/main" val="3400053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7a48adc45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7a48adc45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The goal of this admittedly non-comprehensive list of questions is to detect abnormalities in our telemetry. I took a baseline of the application’s </a:t>
            </a:r>
            <a:r>
              <a:rPr lang="en-US" sz="1800" b="1" i="0" u="none" strike="noStrike" dirty="0" err="1">
                <a:solidFill>
                  <a:srgbClr val="000000"/>
                </a:solidFill>
                <a:effectLst/>
                <a:latin typeface="Times New Roman" panose="02020603050405020304" pitchFamily="18" charset="0"/>
              </a:rPr>
              <a:t>behaviour</a:t>
            </a:r>
            <a:r>
              <a:rPr lang="en-US" sz="1800" b="1" i="0" u="none" strike="noStrike" dirty="0">
                <a:solidFill>
                  <a:srgbClr val="000000"/>
                </a:solidFill>
                <a:effectLst/>
                <a:latin typeface="Times New Roman" panose="02020603050405020304" pitchFamily="18" charset="0"/>
              </a:rPr>
              <a:t> and applied best efforts to writing detection logic on commonly observed techniques that adversaries employ. This is useful for Detection engineers who want to cut through the noise as much as possible and find anomalies in vast data sets. </a:t>
            </a:r>
            <a:endParaRPr lang="en-US" b="0" dirty="0">
              <a:effectLst/>
            </a:endParaRPr>
          </a:p>
          <a:p>
            <a:pPr algn="just" rtl="0">
              <a:spcBef>
                <a:spcPts val="0"/>
              </a:spcBef>
              <a:spcAft>
                <a:spcPts val="0"/>
              </a:spcAft>
            </a:pPr>
            <a:br>
              <a:rPr lang="en-US" b="0" dirty="0">
                <a:effectLst/>
              </a:rPr>
            </a:br>
            <a:r>
              <a:rPr lang="en-US" sz="1800" b="1" i="0" u="none" strike="noStrike" dirty="0">
                <a:solidFill>
                  <a:srgbClr val="000000"/>
                </a:solidFill>
                <a:effectLst/>
                <a:latin typeface="Times New Roman" panose="02020603050405020304" pitchFamily="18" charset="0"/>
              </a:rPr>
              <a:t>On top of this, each tool’s execution </a:t>
            </a:r>
            <a:r>
              <a:rPr lang="en-US" sz="1800" b="1" i="0" u="none" strike="noStrike" dirty="0" err="1">
                <a:solidFill>
                  <a:srgbClr val="000000"/>
                </a:solidFill>
                <a:effectLst/>
                <a:latin typeface="Times New Roman" panose="02020603050405020304" pitchFamily="18" charset="0"/>
              </a:rPr>
              <a:t>behaviours</a:t>
            </a:r>
            <a:r>
              <a:rPr lang="en-US" sz="1800" b="1" i="0" u="none" strike="noStrike" dirty="0">
                <a:solidFill>
                  <a:srgbClr val="000000"/>
                </a:solidFill>
                <a:effectLst/>
                <a:latin typeface="Times New Roman" panose="02020603050405020304" pitchFamily="18" charset="0"/>
              </a:rPr>
              <a:t> vary, which makes answering the questions above a time-consuming process for analysts</a:t>
            </a:r>
            <a:endParaRPr lang="en-US" b="0" dirty="0">
              <a:effectLst/>
            </a:endParaRPr>
          </a:p>
          <a:p>
            <a:br>
              <a:rPr lang="en-US" dirty="0"/>
            </a:b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7a48adc45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7a48adc45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For selection of Application, I conducted a thorough research about recent trends in the cybersecurity industry and chose these five applications for the development of the PoC based on their popularity amongst threat actors. This for just one category, RMM. </a:t>
            </a:r>
            <a:endParaRPr lang="en-US" b="0" dirty="0">
              <a:effectLst/>
            </a:endParaRPr>
          </a:p>
          <a:p>
            <a:br>
              <a:rPr lang="en-US" dirty="0"/>
            </a:b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Testing is one of the most integral parts of this project. As stated earlier, detection rules need to be use-case sensitive - I tested these applications for every feature that they have to provide - </a:t>
            </a:r>
            <a:r>
              <a:rPr lang="en-US" sz="1800" b="1" i="0" u="none" strike="noStrike" dirty="0" err="1">
                <a:solidFill>
                  <a:srgbClr val="000000"/>
                </a:solidFill>
                <a:effectLst/>
                <a:latin typeface="Times New Roman" panose="02020603050405020304" pitchFamily="18" charset="0"/>
              </a:rPr>
              <a:t>analysed</a:t>
            </a:r>
            <a:r>
              <a:rPr lang="en-US" sz="1800" b="1" i="0" u="none" strike="noStrike" dirty="0">
                <a:solidFill>
                  <a:srgbClr val="000000"/>
                </a:solidFill>
                <a:effectLst/>
                <a:latin typeface="Times New Roman" panose="02020603050405020304" pitchFamily="18" charset="0"/>
              </a:rPr>
              <a:t> their footprints/ windows registry keys/ program related artefacts, windows related artefacts for writing robust detection rules. </a:t>
            </a:r>
            <a:endParaRPr lang="en-US" b="0" dirty="0">
              <a:effectLst/>
            </a:endParaRPr>
          </a:p>
          <a:p>
            <a:pPr algn="just" rtl="0">
              <a:spcBef>
                <a:spcPts val="0"/>
              </a:spcBef>
              <a:spcAft>
                <a:spcPts val="0"/>
              </a:spcAft>
            </a:pPr>
            <a:br>
              <a:rPr lang="en-US" b="0" dirty="0">
                <a:effectLst/>
              </a:rPr>
            </a:br>
            <a:r>
              <a:rPr lang="en-US" sz="1800" b="1" i="0" u="none" strike="noStrike" dirty="0">
                <a:solidFill>
                  <a:srgbClr val="000000"/>
                </a:solidFill>
                <a:effectLst/>
                <a:latin typeface="Times New Roman" panose="02020603050405020304" pitchFamily="18" charset="0"/>
              </a:rPr>
              <a:t>Setting up a stable testing environment was very challenging because of resource constraints. It slowed down the execution of the program and the collection of logs. I was able to overcome it after changing extraction tools multiple times. I finally settled on using proven tools such as Autopsy, Eric Zimmerman’s DFIR toolkit, etc. </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35F9861-5879-4F8D-8B29-3BB4B6AE43FF}" type="slidenum">
              <a:rPr lang="en-US" smtClean="0"/>
              <a:t>7</a:t>
            </a:fld>
            <a:endParaRPr lang="en-US"/>
          </a:p>
        </p:txBody>
      </p:sp>
    </p:spTree>
    <p:extLst>
      <p:ext uri="{BB962C8B-B14F-4D97-AF65-F5344CB8AC3E}">
        <p14:creationId xmlns:p14="http://schemas.microsoft.com/office/powerpoint/2010/main" val="3469774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7a48adc45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7a48adc45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For testing, I conducted three rounds to get the possible accurate </a:t>
            </a:r>
            <a:r>
              <a:rPr lang="en-US" sz="1800" b="1" i="0" u="none" strike="noStrike" dirty="0" err="1">
                <a:solidFill>
                  <a:srgbClr val="000000"/>
                </a:solidFill>
                <a:effectLst/>
                <a:latin typeface="Times New Roman" panose="02020603050405020304" pitchFamily="18" charset="0"/>
              </a:rPr>
              <a:t>IoCs</a:t>
            </a:r>
            <a:r>
              <a:rPr lang="en-US" sz="1800" b="1" i="0" u="none" strike="noStrike" dirty="0">
                <a:solidFill>
                  <a:srgbClr val="000000"/>
                </a:solidFill>
                <a:effectLst/>
                <a:latin typeface="Times New Roman" panose="02020603050405020304" pitchFamily="18" charset="0"/>
              </a:rPr>
              <a:t> with different network settings - one with the same network, different network and VPN. It is interesting to note all of these artefacts vary from app to app on different network settings. For instance, for </a:t>
            </a:r>
            <a:r>
              <a:rPr lang="en-US" sz="1800" b="1" i="0" u="none" strike="noStrike" dirty="0" err="1">
                <a:solidFill>
                  <a:srgbClr val="000000"/>
                </a:solidFill>
                <a:effectLst/>
                <a:latin typeface="Times New Roman" panose="02020603050405020304" pitchFamily="18" charset="0"/>
              </a:rPr>
              <a:t>ScreenConnect</a:t>
            </a:r>
            <a:r>
              <a:rPr lang="en-US" sz="1800" b="1" i="0" u="none" strike="noStrike" dirty="0">
                <a:solidFill>
                  <a:srgbClr val="000000"/>
                </a:solidFill>
                <a:effectLst/>
                <a:latin typeface="Times New Roman" panose="02020603050405020304" pitchFamily="18" charset="0"/>
              </a:rPr>
              <a:t> I didn’t observe any difference from the same instance across different networks; however, IP addresses changed for </a:t>
            </a:r>
            <a:r>
              <a:rPr lang="en-US" sz="1800" b="1" i="0" u="none" strike="noStrike" dirty="0" err="1">
                <a:solidFill>
                  <a:srgbClr val="000000"/>
                </a:solidFill>
                <a:effectLst/>
                <a:latin typeface="Times New Roman" panose="02020603050405020304" pitchFamily="18" charset="0"/>
              </a:rPr>
              <a:t>AnyDesk</a:t>
            </a:r>
            <a:r>
              <a:rPr lang="en-US" sz="1800" b="1" i="0" u="none" strike="noStrike" dirty="0">
                <a:solidFill>
                  <a:srgbClr val="000000"/>
                </a:solidFill>
                <a:effectLst/>
                <a:latin typeface="Times New Roman" panose="02020603050405020304" pitchFamily="18" charset="0"/>
              </a:rPr>
              <a:t> even in the same network.</a:t>
            </a:r>
            <a:endParaRPr lang="en-US" b="0" dirty="0">
              <a:effectLst/>
            </a:endParaRPr>
          </a:p>
          <a:p>
            <a:br>
              <a:rPr lang="en-US" dirty="0"/>
            </a:b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7a48adc45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7a48adc45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This is how the backend of the tool looks like - a Python based tool which is under development, will extract </a:t>
            </a:r>
            <a:r>
              <a:rPr lang="en-US" sz="1800" b="1" i="0" u="none" strike="noStrike" dirty="0" err="1">
                <a:solidFill>
                  <a:srgbClr val="000000"/>
                </a:solidFill>
                <a:effectLst/>
                <a:latin typeface="Times New Roman" panose="02020603050405020304" pitchFamily="18" charset="0"/>
              </a:rPr>
              <a:t>IoCs</a:t>
            </a:r>
            <a:r>
              <a:rPr lang="en-US" sz="1800" b="1" i="0" u="none" strike="noStrike" dirty="0">
                <a:solidFill>
                  <a:srgbClr val="000000"/>
                </a:solidFill>
                <a:effectLst/>
                <a:latin typeface="Times New Roman" panose="02020603050405020304" pitchFamily="18" charset="0"/>
              </a:rPr>
              <a:t> from open </a:t>
            </a:r>
            <a:r>
              <a:rPr lang="en-US" sz="1800" b="1" i="0" u="none" strike="noStrike" dirty="0" err="1">
                <a:solidFill>
                  <a:srgbClr val="000000"/>
                </a:solidFill>
                <a:effectLst/>
                <a:latin typeface="Times New Roman" panose="02020603050405020304" pitchFamily="18" charset="0"/>
              </a:rPr>
              <a:t>github</a:t>
            </a:r>
            <a:r>
              <a:rPr lang="en-US" sz="1800" b="1" i="0" u="none" strike="noStrike" dirty="0">
                <a:solidFill>
                  <a:srgbClr val="000000"/>
                </a:solidFill>
                <a:effectLst/>
                <a:latin typeface="Times New Roman" panose="02020603050405020304" pitchFamily="18" charset="0"/>
              </a:rPr>
              <a:t> repos on demand.  This tool can be further integrated with any SIEM/EDR tools with customization. As part of future work, I’ll be updating templates and exposing an API in the python tool to enable other tools to consume data.</a:t>
            </a:r>
            <a:endParaRPr lang="en-US" b="0" dirty="0">
              <a:effectLst/>
            </a:endParaRPr>
          </a:p>
          <a:p>
            <a:pPr algn="just" rtl="0">
              <a:spcBef>
                <a:spcPts val="0"/>
              </a:spcBef>
              <a:spcAft>
                <a:spcPts val="0"/>
              </a:spcAft>
            </a:pPr>
            <a:br>
              <a:rPr lang="en-US" b="0" dirty="0">
                <a:effectLst/>
              </a:rPr>
            </a:br>
            <a:r>
              <a:rPr lang="en-US" sz="1800" b="1" i="0" u="none" strike="noStrike" dirty="0">
                <a:solidFill>
                  <a:srgbClr val="000000"/>
                </a:solidFill>
                <a:effectLst/>
                <a:latin typeface="Times New Roman" panose="02020603050405020304" pitchFamily="18" charset="0"/>
              </a:rPr>
              <a:t>For detection rules, I used Sigma. This is a SIEM neutral rule language that allows rules to be written to support any environment and any SIEM. In order for this concept to work, a conversion process takes the SIEM agnostically written rule and translates it specific to a given SIEM.</a:t>
            </a:r>
            <a:endParaRPr lang="en-US" b="0" dirty="0">
              <a:effectLst/>
            </a:endParaRPr>
          </a:p>
          <a:p>
            <a:br>
              <a:rPr lang="en-US" dirty="0"/>
            </a:b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000000"/>
                </a:solidFill>
                <a:effectLst/>
                <a:latin typeface="Times New Roman" panose="02020603050405020304" pitchFamily="18" charset="0"/>
              </a:rPr>
              <a:t>I have 3 ways to evaluate the tool after thorough testing and rule development</a:t>
            </a:r>
            <a:r>
              <a:rPr lang="en-US" sz="1800" b="1" i="0" u="none" strike="noStrike">
                <a:solidFill>
                  <a:srgbClr val="000000"/>
                </a:solidFill>
                <a:effectLst/>
                <a:latin typeface="Times New Roman" panose="02020603050405020304" pitchFamily="18" charset="0"/>
              </a:rPr>
              <a:t>: </a:t>
            </a:r>
          </a:p>
          <a:p>
            <a:pPr algn="just" rtl="0">
              <a:spcBef>
                <a:spcPts val="0"/>
              </a:spcBef>
              <a:spcAft>
                <a:spcPts val="0"/>
              </a:spcAft>
            </a:pPr>
            <a:endParaRPr lang="en-US" b="0" dirty="0">
              <a:effectLst/>
            </a:endParaRPr>
          </a:p>
          <a:p>
            <a:pPr indent="457200" algn="just" rtl="0">
              <a:spcBef>
                <a:spcPts val="0"/>
              </a:spcBef>
              <a:spcAft>
                <a:spcPts val="0"/>
              </a:spcAft>
            </a:pPr>
            <a:r>
              <a:rPr lang="en-US" sz="1800" b="1" i="0" u="none" strike="noStrike" dirty="0">
                <a:solidFill>
                  <a:srgbClr val="000000"/>
                </a:solidFill>
                <a:effectLst/>
                <a:latin typeface="Times New Roman" panose="02020603050405020304" pitchFamily="18" charset="0"/>
              </a:rPr>
              <a:t>By  transforming Indicators of Compromise (</a:t>
            </a:r>
            <a:r>
              <a:rPr lang="en-US" sz="1800" b="1" i="0" u="none" strike="noStrike" dirty="0" err="1">
                <a:solidFill>
                  <a:srgbClr val="000000"/>
                </a:solidFill>
                <a:effectLst/>
                <a:latin typeface="Times New Roman" panose="02020603050405020304" pitchFamily="18" charset="0"/>
              </a:rPr>
              <a:t>IoCs</a:t>
            </a:r>
            <a:r>
              <a:rPr lang="en-US" sz="1800" b="1" i="0" u="none" strike="noStrike" dirty="0">
                <a:solidFill>
                  <a:srgbClr val="000000"/>
                </a:solidFill>
                <a:effectLst/>
                <a:latin typeface="Times New Roman" panose="02020603050405020304" pitchFamily="18" charset="0"/>
              </a:rPr>
              <a:t>) into plugins for seamless integration with SIEM tools. This step is not just an advancement; it's a game-changer in cybersecurity defense.  </a:t>
            </a:r>
            <a:endParaRPr lang="en-US" b="0" dirty="0">
              <a:effectLst/>
            </a:endParaRPr>
          </a:p>
          <a:p>
            <a:pPr indent="457200" algn="just" rtl="0">
              <a:spcBef>
                <a:spcPts val="0"/>
              </a:spcBef>
              <a:spcAft>
                <a:spcPts val="0"/>
              </a:spcAft>
            </a:pPr>
            <a:r>
              <a:rPr lang="en-US" sz="1800" b="1" i="0" u="none" strike="noStrike" dirty="0">
                <a:solidFill>
                  <a:srgbClr val="000000"/>
                </a:solidFill>
                <a:effectLst/>
                <a:latin typeface="Times New Roman" panose="02020603050405020304" pitchFamily="18" charset="0"/>
              </a:rPr>
              <a:t>I plan to share </a:t>
            </a:r>
            <a:r>
              <a:rPr lang="en-US" sz="1800" b="1" i="0" u="none" strike="noStrike" dirty="0" err="1">
                <a:solidFill>
                  <a:srgbClr val="000000"/>
                </a:solidFill>
                <a:effectLst/>
                <a:latin typeface="Times New Roman" panose="02020603050405020304" pitchFamily="18" charset="0"/>
              </a:rPr>
              <a:t>IoCs</a:t>
            </a:r>
            <a:r>
              <a:rPr lang="en-US" sz="1800" b="1" i="0" u="none" strike="noStrike" dirty="0">
                <a:solidFill>
                  <a:srgbClr val="000000"/>
                </a:solidFill>
                <a:effectLst/>
                <a:latin typeface="Times New Roman" panose="02020603050405020304" pitchFamily="18" charset="0"/>
              </a:rPr>
              <a:t> with </a:t>
            </a:r>
            <a:r>
              <a:rPr lang="en-US" sz="1800" b="1" i="0" u="none" strike="noStrike" dirty="0" err="1">
                <a:solidFill>
                  <a:srgbClr val="000000"/>
                </a:solidFill>
                <a:effectLst/>
                <a:latin typeface="Times New Roman" panose="02020603050405020304" pitchFamily="18" charset="0"/>
              </a:rPr>
              <a:t>IntelOwl</a:t>
            </a:r>
            <a:r>
              <a:rPr lang="en-US" sz="1800" b="1" i="0" u="none" strike="noStrike" dirty="0">
                <a:solidFill>
                  <a:srgbClr val="000000"/>
                </a:solidFill>
                <a:effectLst/>
                <a:latin typeface="Times New Roman" panose="02020603050405020304" pitchFamily="18" charset="0"/>
              </a:rPr>
              <a:t>, and more open source threat intel communities. By pushing these </a:t>
            </a:r>
            <a:r>
              <a:rPr lang="en-US" sz="1800" b="1" i="0" u="none" strike="noStrike" dirty="0" err="1">
                <a:solidFill>
                  <a:srgbClr val="000000"/>
                </a:solidFill>
                <a:effectLst/>
                <a:latin typeface="Times New Roman" panose="02020603050405020304" pitchFamily="18" charset="0"/>
              </a:rPr>
              <a:t>IoCs</a:t>
            </a:r>
            <a:r>
              <a:rPr lang="en-US" sz="1800" b="1" i="0" u="none" strike="noStrike" dirty="0">
                <a:solidFill>
                  <a:srgbClr val="000000"/>
                </a:solidFill>
                <a:effectLst/>
                <a:latin typeface="Times New Roman" panose="02020603050405020304" pitchFamily="18" charset="0"/>
              </a:rPr>
              <a:t> to </a:t>
            </a:r>
            <a:r>
              <a:rPr lang="en-US" sz="1800" b="1" i="0" u="none" strike="noStrike" dirty="0" err="1">
                <a:solidFill>
                  <a:srgbClr val="000000"/>
                </a:solidFill>
                <a:effectLst/>
                <a:latin typeface="Times New Roman" panose="02020603050405020304" pitchFamily="18" charset="0"/>
              </a:rPr>
              <a:t>PyMISP</a:t>
            </a:r>
            <a:r>
              <a:rPr lang="en-US" sz="1800" b="1" i="0" u="none" strike="noStrike" dirty="0">
                <a:solidFill>
                  <a:srgbClr val="000000"/>
                </a:solidFill>
                <a:effectLst/>
                <a:latin typeface="Times New Roman" panose="02020603050405020304" pitchFamily="18" charset="0"/>
              </a:rPr>
              <a:t> with my colleague Blane, I’d be able to validate my assumptions.</a:t>
            </a:r>
            <a:endParaRPr lang="en-US" b="0" dirty="0">
              <a:effectLst/>
            </a:endParaRPr>
          </a:p>
          <a:p>
            <a:pPr indent="457200" algn="just" rtl="0">
              <a:spcBef>
                <a:spcPts val="0"/>
              </a:spcBef>
              <a:spcAft>
                <a:spcPts val="0"/>
              </a:spcAft>
            </a:pPr>
            <a:br>
              <a:rPr lang="en-US" b="0" dirty="0">
                <a:effectLst/>
              </a:rPr>
            </a:br>
            <a:r>
              <a:rPr lang="en-US" sz="1800" b="1" i="0" u="none" strike="noStrike" dirty="0">
                <a:solidFill>
                  <a:srgbClr val="000000"/>
                </a:solidFill>
                <a:effectLst/>
                <a:latin typeface="Times New Roman" panose="02020603050405020304" pitchFamily="18" charset="0"/>
              </a:rPr>
              <a:t>In the next two weeks, I'll try to promote the tool across social platforms. This isn't just for validation; it's a testament to our commitment to delivering top-tier cybersecurity solutions.</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35F9861-5879-4F8D-8B29-3BB4B6AE43FF}" type="slidenum">
              <a:rPr lang="en-US" smtClean="0"/>
              <a:t>10</a:t>
            </a:fld>
            <a:endParaRPr lang="en-US"/>
          </a:p>
        </p:txBody>
      </p:sp>
    </p:spTree>
    <p:extLst>
      <p:ext uri="{BB962C8B-B14F-4D97-AF65-F5344CB8AC3E}">
        <p14:creationId xmlns:p14="http://schemas.microsoft.com/office/powerpoint/2010/main" val="1653942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effectLst/>
                <a:latin typeface="Söhne"/>
              </a:rPr>
              <a:t>I'm broadening the scope to include comprehensive support for other operating systems such as Linux and MacOS."</a:t>
            </a:r>
          </a:p>
          <a:p>
            <a:pPr algn="l">
              <a:buFont typeface="+mj-lt"/>
              <a:buAutoNum type="arabicPeriod"/>
            </a:pPr>
            <a:r>
              <a:rPr lang="en-US" b="0" i="0" dirty="0">
                <a:effectLst/>
                <a:latin typeface="Söhne"/>
              </a:rPr>
              <a:t>"I plan to </a:t>
            </a:r>
            <a:r>
              <a:rPr lang="en-US" b="0" i="0" dirty="0" err="1">
                <a:effectLst/>
                <a:latin typeface="Söhne"/>
              </a:rPr>
              <a:t>analyz</a:t>
            </a:r>
            <a:r>
              <a:rPr lang="en-US" b="0" i="0" dirty="0">
                <a:effectLst/>
                <a:latin typeface="Söhne"/>
              </a:rPr>
              <a:t> applications meticulously to spot potential vulnerabilities that align with OWASP guidelines."</a:t>
            </a:r>
          </a:p>
          <a:p>
            <a:pPr algn="l">
              <a:buFont typeface="+mj-lt"/>
              <a:buAutoNum type="arabicPeriod"/>
            </a:pPr>
            <a:r>
              <a:rPr lang="en-US" b="0" i="0" dirty="0">
                <a:effectLst/>
                <a:latin typeface="Söhne"/>
              </a:rPr>
              <a:t>Using program analysis, I can on automating the extraction of Indicators of Compromise while keeping false positives to a bare minimum."</a:t>
            </a:r>
          </a:p>
          <a:p>
            <a:pPr algn="l">
              <a:buFont typeface="+mj-lt"/>
              <a:buNone/>
            </a:pPr>
            <a:endParaRPr lang="en-US" b="0" i="0" dirty="0">
              <a:effectLst/>
              <a:latin typeface="Söhne"/>
            </a:endParaRPr>
          </a:p>
          <a:p>
            <a:pPr algn="l">
              <a:buFont typeface="+mj-lt"/>
              <a:buNone/>
            </a:pPr>
            <a:r>
              <a:rPr lang="en-US" b="0" i="0" dirty="0" err="1">
                <a:effectLst/>
                <a:latin typeface="Söhne"/>
              </a:rPr>
              <a:t>Fot</a:t>
            </a:r>
            <a:r>
              <a:rPr lang="en-US" b="0" i="0" dirty="0">
                <a:effectLst/>
                <a:latin typeface="Söhne"/>
              </a:rPr>
              <a:t> final deliverables, It’ll be the python tool which can be used to create plugins and contribution to earlier mentioned threat intel feed.</a:t>
            </a:r>
            <a:endParaRPr lang="en-US" dirty="0"/>
          </a:p>
        </p:txBody>
      </p:sp>
      <p:sp>
        <p:nvSpPr>
          <p:cNvPr id="4" name="Slide Number Placeholder 3"/>
          <p:cNvSpPr>
            <a:spLocks noGrp="1"/>
          </p:cNvSpPr>
          <p:nvPr>
            <p:ph type="sldNum" sz="quarter" idx="5"/>
          </p:nvPr>
        </p:nvSpPr>
        <p:spPr/>
        <p:txBody>
          <a:bodyPr/>
          <a:lstStyle/>
          <a:p>
            <a:fld id="{D35F9861-5879-4F8D-8B29-3BB4B6AE43FF}" type="slidenum">
              <a:rPr lang="en-US" smtClean="0"/>
              <a:t>11</a:t>
            </a:fld>
            <a:endParaRPr lang="en-US"/>
          </a:p>
        </p:txBody>
      </p:sp>
    </p:spTree>
    <p:extLst>
      <p:ext uri="{BB962C8B-B14F-4D97-AF65-F5344CB8AC3E}">
        <p14:creationId xmlns:p14="http://schemas.microsoft.com/office/powerpoint/2010/main" val="853992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
        <p:cNvGrpSpPr/>
        <p:nvPr/>
      </p:nvGrpSpPr>
      <p:grpSpPr>
        <a:xfrm>
          <a:off x="0" y="0"/>
          <a:ext cx="0" cy="0"/>
          <a:chOff x="0" y="0"/>
          <a:chExt cx="0" cy="0"/>
        </a:xfrm>
      </p:grpSpPr>
      <p:sp>
        <p:nvSpPr>
          <p:cNvPr id="7" name="Google Shape;7;p11"/>
          <p:cNvSpPr txBox="1">
            <a:spLocks noGrp="1"/>
          </p:cNvSpPr>
          <p:nvPr>
            <p:ph type="ctrTitle"/>
          </p:nvPr>
        </p:nvSpPr>
        <p:spPr>
          <a:xfrm>
            <a:off x="2955684" y="1149178"/>
            <a:ext cx="6795912" cy="2643890"/>
          </a:xfrm>
          <a:prstGeom prst="rect">
            <a:avLst/>
          </a:prstGeom>
          <a:noFill/>
          <a:ln>
            <a:noFill/>
          </a:ln>
        </p:spPr>
        <p:txBody>
          <a:bodyPr spcFirstLastPara="1" wrap="square" lIns="91425" tIns="45700" rIns="91425" bIns="45700" anchor="b" anchorCtr="0">
            <a:normAutofit/>
          </a:bodyPr>
          <a:lstStyle>
            <a:lvl1pPr marR="0" lvl="0" algn="l" rtl="0">
              <a:lnSpc>
                <a:spcPct val="114285"/>
              </a:lnSpc>
              <a:spcBef>
                <a:spcPts val="0"/>
              </a:spcBef>
              <a:spcAft>
                <a:spcPts val="0"/>
              </a:spcAft>
              <a:buClr>
                <a:srgbClr val="003057"/>
              </a:buClr>
              <a:buSzPts val="4200"/>
              <a:buFont typeface="Roboto"/>
              <a:buNone/>
              <a:defRPr sz="4200" b="1" i="0" u="none" strike="noStrike" cap="none">
                <a:solidFill>
                  <a:srgbClr val="003057"/>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1"/>
          <p:cNvSpPr txBox="1">
            <a:spLocks noGrp="1"/>
          </p:cNvSpPr>
          <p:nvPr>
            <p:ph type="subTitle" idx="1"/>
          </p:nvPr>
        </p:nvSpPr>
        <p:spPr>
          <a:xfrm>
            <a:off x="2955682" y="3793068"/>
            <a:ext cx="6795913" cy="1684868"/>
          </a:xfrm>
          <a:prstGeom prst="rect">
            <a:avLst/>
          </a:prstGeom>
          <a:noFill/>
          <a:ln>
            <a:noFill/>
          </a:ln>
        </p:spPr>
        <p:txBody>
          <a:bodyPr spcFirstLastPara="1" wrap="square" lIns="91425" tIns="45700" rIns="91425" bIns="45700" anchor="t" anchorCtr="0">
            <a:noAutofit/>
          </a:bodyPr>
          <a:lstStyle>
            <a:lvl1pPr marR="0" lvl="0" algn="l" rtl="0">
              <a:lnSpc>
                <a:spcPct val="200000"/>
              </a:lnSpc>
              <a:spcBef>
                <a:spcPts val="360"/>
              </a:spcBef>
              <a:spcAft>
                <a:spcPts val="0"/>
              </a:spcAft>
              <a:buClr>
                <a:srgbClr val="857437"/>
              </a:buClr>
              <a:buSzPts val="1800"/>
              <a:buFont typeface="Arial"/>
              <a:buNone/>
              <a:defRPr sz="1800" b="0" i="0" u="none" strike="noStrike" cap="none">
                <a:solidFill>
                  <a:srgbClr val="857437"/>
                </a:solidFill>
                <a:latin typeface="Roboto"/>
                <a:ea typeface="Roboto"/>
                <a:cs typeface="Roboto"/>
                <a:sym typeface="Roboto"/>
              </a:defRPr>
            </a:lvl1pPr>
            <a:lvl2pPr marR="0" lvl="1" algn="ctr" rtl="0">
              <a:lnSpc>
                <a:spcPct val="100000"/>
              </a:lnSpc>
              <a:spcBef>
                <a:spcPts val="420"/>
              </a:spcBef>
              <a:spcAft>
                <a:spcPts val="0"/>
              </a:spcAft>
              <a:buClr>
                <a:srgbClr val="888888"/>
              </a:buClr>
              <a:buSzPts val="2100"/>
              <a:buFont typeface="Arial"/>
              <a:buNone/>
              <a:defRPr sz="2100" b="0" i="0" u="none" strike="noStrike" cap="none">
                <a:solidFill>
                  <a:srgbClr val="888888"/>
                </a:solidFill>
                <a:latin typeface="Arial"/>
                <a:ea typeface="Arial"/>
                <a:cs typeface="Arial"/>
                <a:sym typeface="Arial"/>
              </a:defRPr>
            </a:lvl2pPr>
            <a:lvl3pPr marR="0" lvl="2"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R="0" lvl="3"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4pPr>
            <a:lvl5pPr marR="0" lvl="4"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5pPr>
            <a:lvl6pPr marR="0" lvl="5"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6pPr>
            <a:lvl7pPr marR="0" lvl="6"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7pPr>
            <a:lvl8pPr marR="0" lvl="7"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8pPr>
            <a:lvl9pPr marR="0" lvl="8" algn="ctr" rtl="0">
              <a:lnSpc>
                <a:spcPct val="100000"/>
              </a:lnSpc>
              <a:spcBef>
                <a:spcPts val="300"/>
              </a:spcBef>
              <a:spcAft>
                <a:spcPts val="0"/>
              </a:spcAft>
              <a:buClr>
                <a:srgbClr val="888888"/>
              </a:buClr>
              <a:buSzPts val="1500"/>
              <a:buFont typeface="Arial"/>
              <a:buNone/>
              <a:defRPr sz="15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3"/>
          <p:cNvSpPr txBox="1">
            <a:spLocks noGrp="1"/>
          </p:cNvSpPr>
          <p:nvPr>
            <p:ph type="body" idx="1"/>
          </p:nvPr>
        </p:nvSpPr>
        <p:spPr>
          <a:xfrm>
            <a:off x="381000" y="1215485"/>
            <a:ext cx="11430000" cy="42256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3057"/>
              </a:buClr>
              <a:buSzPts val="1800"/>
              <a:buChar char="•"/>
              <a:defRPr/>
            </a:lvl1pPr>
            <a:lvl2pPr marL="914400" lvl="1" indent="-342900" algn="l">
              <a:lnSpc>
                <a:spcPct val="90000"/>
              </a:lnSpc>
              <a:spcBef>
                <a:spcPts val="500"/>
              </a:spcBef>
              <a:spcAft>
                <a:spcPts val="0"/>
              </a:spcAft>
              <a:buClr>
                <a:srgbClr val="003057"/>
              </a:buClr>
              <a:buSzPts val="1800"/>
              <a:buChar char="•"/>
              <a:defRPr/>
            </a:lvl2pPr>
            <a:lvl3pPr marL="1371600" lvl="2" indent="-342900" algn="l">
              <a:lnSpc>
                <a:spcPct val="90000"/>
              </a:lnSpc>
              <a:spcBef>
                <a:spcPts val="500"/>
              </a:spcBef>
              <a:spcAft>
                <a:spcPts val="0"/>
              </a:spcAft>
              <a:buClr>
                <a:srgbClr val="003057"/>
              </a:buClr>
              <a:buSzPts val="1800"/>
              <a:buChar char="•"/>
              <a:defRPr/>
            </a:lvl3pPr>
            <a:lvl4pPr marL="1828800" lvl="3" indent="-342900" algn="l">
              <a:lnSpc>
                <a:spcPct val="90000"/>
              </a:lnSpc>
              <a:spcBef>
                <a:spcPts val="500"/>
              </a:spcBef>
              <a:spcAft>
                <a:spcPts val="0"/>
              </a:spcAft>
              <a:buClr>
                <a:srgbClr val="003057"/>
              </a:buClr>
              <a:buSzPts val="1800"/>
              <a:buChar char="•"/>
              <a:defRPr/>
            </a:lvl4pPr>
            <a:lvl5pPr marL="2286000" lvl="4" indent="-342900" algn="l">
              <a:lnSpc>
                <a:spcPct val="90000"/>
              </a:lnSpc>
              <a:spcBef>
                <a:spcPts val="500"/>
              </a:spcBef>
              <a:spcAft>
                <a:spcPts val="0"/>
              </a:spcAft>
              <a:buClr>
                <a:srgbClr val="003057"/>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3"/>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3"/>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3"/>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g1a034cd4c02_0_55"/>
          <p:cNvSpPr txBox="1">
            <a:spLocks noGrp="1"/>
          </p:cNvSpPr>
          <p:nvPr>
            <p:ph type="title"/>
          </p:nvPr>
        </p:nvSpPr>
        <p:spPr>
          <a:xfrm>
            <a:off x="415600" y="593367"/>
            <a:ext cx="11360700" cy="7635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g1a034cd4c02_0_55"/>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24" name="Google Shape;24;g1a034cd4c02_0_55"/>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body" idx="1"/>
          </p:nvPr>
        </p:nvSpPr>
        <p:spPr>
          <a:xfrm>
            <a:off x="379048" y="1215483"/>
            <a:ext cx="5615353" cy="422565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3057"/>
              </a:buClr>
              <a:buSzPts val="1800"/>
              <a:buChar char="•"/>
              <a:defRPr/>
            </a:lvl1pPr>
            <a:lvl2pPr marL="914400" lvl="1" indent="-342900" algn="l">
              <a:lnSpc>
                <a:spcPct val="90000"/>
              </a:lnSpc>
              <a:spcBef>
                <a:spcPts val="500"/>
              </a:spcBef>
              <a:spcAft>
                <a:spcPts val="0"/>
              </a:spcAft>
              <a:buClr>
                <a:srgbClr val="003057"/>
              </a:buClr>
              <a:buSzPts val="1800"/>
              <a:buChar char="•"/>
              <a:defRPr/>
            </a:lvl2pPr>
            <a:lvl3pPr marL="1371600" lvl="2" indent="-342900" algn="l">
              <a:lnSpc>
                <a:spcPct val="90000"/>
              </a:lnSpc>
              <a:spcBef>
                <a:spcPts val="500"/>
              </a:spcBef>
              <a:spcAft>
                <a:spcPts val="0"/>
              </a:spcAft>
              <a:buClr>
                <a:srgbClr val="003057"/>
              </a:buClr>
              <a:buSzPts val="1800"/>
              <a:buChar char="•"/>
              <a:defRPr/>
            </a:lvl3pPr>
            <a:lvl4pPr marL="1828800" lvl="3" indent="-342900" algn="l">
              <a:lnSpc>
                <a:spcPct val="90000"/>
              </a:lnSpc>
              <a:spcBef>
                <a:spcPts val="500"/>
              </a:spcBef>
              <a:spcAft>
                <a:spcPts val="0"/>
              </a:spcAft>
              <a:buClr>
                <a:srgbClr val="003057"/>
              </a:buClr>
              <a:buSzPts val="1800"/>
              <a:buChar char="•"/>
              <a:defRPr/>
            </a:lvl4pPr>
            <a:lvl5pPr marL="2286000" lvl="4" indent="-342900" algn="l">
              <a:lnSpc>
                <a:spcPct val="90000"/>
              </a:lnSpc>
              <a:spcBef>
                <a:spcPts val="500"/>
              </a:spcBef>
              <a:spcAft>
                <a:spcPts val="0"/>
              </a:spcAft>
              <a:buClr>
                <a:srgbClr val="003057"/>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4"/>
          <p:cNvSpPr txBox="1">
            <a:spLocks noGrp="1"/>
          </p:cNvSpPr>
          <p:nvPr>
            <p:ph type="body" idx="2"/>
          </p:nvPr>
        </p:nvSpPr>
        <p:spPr>
          <a:xfrm>
            <a:off x="6197600" y="1215483"/>
            <a:ext cx="5613400" cy="422565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3057"/>
              </a:buClr>
              <a:buSzPts val="1800"/>
              <a:buChar char="•"/>
              <a:defRPr/>
            </a:lvl1pPr>
            <a:lvl2pPr marL="914400" lvl="1" indent="-342900" algn="l">
              <a:lnSpc>
                <a:spcPct val="90000"/>
              </a:lnSpc>
              <a:spcBef>
                <a:spcPts val="500"/>
              </a:spcBef>
              <a:spcAft>
                <a:spcPts val="0"/>
              </a:spcAft>
              <a:buClr>
                <a:srgbClr val="003057"/>
              </a:buClr>
              <a:buSzPts val="1800"/>
              <a:buChar char="•"/>
              <a:defRPr/>
            </a:lvl2pPr>
            <a:lvl3pPr marL="1371600" lvl="2" indent="-342900" algn="l">
              <a:lnSpc>
                <a:spcPct val="90000"/>
              </a:lnSpc>
              <a:spcBef>
                <a:spcPts val="500"/>
              </a:spcBef>
              <a:spcAft>
                <a:spcPts val="0"/>
              </a:spcAft>
              <a:buClr>
                <a:srgbClr val="003057"/>
              </a:buClr>
              <a:buSzPts val="1800"/>
              <a:buChar char="•"/>
              <a:defRPr/>
            </a:lvl3pPr>
            <a:lvl4pPr marL="1828800" lvl="3" indent="-342900" algn="l">
              <a:lnSpc>
                <a:spcPct val="90000"/>
              </a:lnSpc>
              <a:spcBef>
                <a:spcPts val="500"/>
              </a:spcBef>
              <a:spcAft>
                <a:spcPts val="0"/>
              </a:spcAft>
              <a:buClr>
                <a:srgbClr val="003057"/>
              </a:buClr>
              <a:buSzPts val="1800"/>
              <a:buChar char="•"/>
              <a:defRPr/>
            </a:lvl4pPr>
            <a:lvl5pPr marL="2286000" lvl="4" indent="-342900" algn="l">
              <a:lnSpc>
                <a:spcPct val="90000"/>
              </a:lnSpc>
              <a:spcBef>
                <a:spcPts val="500"/>
              </a:spcBef>
              <a:spcAft>
                <a:spcPts val="0"/>
              </a:spcAft>
              <a:buClr>
                <a:srgbClr val="003057"/>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4"/>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4"/>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2"/>
        <p:cNvGrpSpPr/>
        <p:nvPr/>
      </p:nvGrpSpPr>
      <p:grpSpPr>
        <a:xfrm>
          <a:off x="0" y="0"/>
          <a:ext cx="0" cy="0"/>
          <a:chOff x="0" y="0"/>
          <a:chExt cx="0" cy="0"/>
        </a:xfrm>
      </p:grpSpPr>
      <p:sp>
        <p:nvSpPr>
          <p:cNvPr id="33" name="Google Shape;33;p15"/>
          <p:cNvSpPr txBox="1">
            <a:spLocks noGrp="1"/>
          </p:cNvSpPr>
          <p:nvPr>
            <p:ph type="body" idx="1"/>
          </p:nvPr>
        </p:nvSpPr>
        <p:spPr>
          <a:xfrm>
            <a:off x="381001" y="1235113"/>
            <a:ext cx="561763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3057"/>
              </a:buClr>
              <a:buSzPts val="2400"/>
              <a:buNone/>
              <a:defRPr sz="2400" b="1"/>
            </a:lvl1pPr>
            <a:lvl2pPr marL="914400" lvl="1" indent="-228600" algn="l">
              <a:lnSpc>
                <a:spcPct val="90000"/>
              </a:lnSpc>
              <a:spcBef>
                <a:spcPts val="500"/>
              </a:spcBef>
              <a:spcAft>
                <a:spcPts val="0"/>
              </a:spcAft>
              <a:buClr>
                <a:srgbClr val="003057"/>
              </a:buClr>
              <a:buSzPts val="2000"/>
              <a:buNone/>
              <a:defRPr sz="2000" b="1"/>
            </a:lvl2pPr>
            <a:lvl3pPr marL="1371600" lvl="2" indent="-228600" algn="l">
              <a:lnSpc>
                <a:spcPct val="90000"/>
              </a:lnSpc>
              <a:spcBef>
                <a:spcPts val="500"/>
              </a:spcBef>
              <a:spcAft>
                <a:spcPts val="0"/>
              </a:spcAft>
              <a:buClr>
                <a:srgbClr val="003057"/>
              </a:buClr>
              <a:buSzPts val="1800"/>
              <a:buNone/>
              <a:defRPr sz="1800" b="1"/>
            </a:lvl3pPr>
            <a:lvl4pPr marL="1828800" lvl="3" indent="-228600" algn="l">
              <a:lnSpc>
                <a:spcPct val="90000"/>
              </a:lnSpc>
              <a:spcBef>
                <a:spcPts val="500"/>
              </a:spcBef>
              <a:spcAft>
                <a:spcPts val="0"/>
              </a:spcAft>
              <a:buClr>
                <a:srgbClr val="003057"/>
              </a:buClr>
              <a:buSzPts val="1600"/>
              <a:buNone/>
              <a:defRPr sz="1600" b="1"/>
            </a:lvl4pPr>
            <a:lvl5pPr marL="2286000" lvl="4" indent="-228600" algn="l">
              <a:lnSpc>
                <a:spcPct val="90000"/>
              </a:lnSpc>
              <a:spcBef>
                <a:spcPts val="500"/>
              </a:spcBef>
              <a:spcAft>
                <a:spcPts val="0"/>
              </a:spcAft>
              <a:buClr>
                <a:srgbClr val="003057"/>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 name="Google Shape;34;p15"/>
          <p:cNvSpPr txBox="1">
            <a:spLocks noGrp="1"/>
          </p:cNvSpPr>
          <p:nvPr>
            <p:ph type="body" idx="2"/>
          </p:nvPr>
        </p:nvSpPr>
        <p:spPr>
          <a:xfrm>
            <a:off x="381001" y="2078658"/>
            <a:ext cx="5617633" cy="336247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3057"/>
              </a:buClr>
              <a:buSzPts val="1800"/>
              <a:buChar char="•"/>
              <a:defRPr/>
            </a:lvl1pPr>
            <a:lvl2pPr marL="914400" lvl="1" indent="-342900" algn="l">
              <a:lnSpc>
                <a:spcPct val="90000"/>
              </a:lnSpc>
              <a:spcBef>
                <a:spcPts val="500"/>
              </a:spcBef>
              <a:spcAft>
                <a:spcPts val="0"/>
              </a:spcAft>
              <a:buClr>
                <a:srgbClr val="003057"/>
              </a:buClr>
              <a:buSzPts val="1800"/>
              <a:buChar char="•"/>
              <a:defRPr/>
            </a:lvl2pPr>
            <a:lvl3pPr marL="1371600" lvl="2" indent="-342900" algn="l">
              <a:lnSpc>
                <a:spcPct val="90000"/>
              </a:lnSpc>
              <a:spcBef>
                <a:spcPts val="500"/>
              </a:spcBef>
              <a:spcAft>
                <a:spcPts val="0"/>
              </a:spcAft>
              <a:buClr>
                <a:srgbClr val="003057"/>
              </a:buClr>
              <a:buSzPts val="1800"/>
              <a:buChar char="•"/>
              <a:defRPr/>
            </a:lvl3pPr>
            <a:lvl4pPr marL="1828800" lvl="3" indent="-342900" algn="l">
              <a:lnSpc>
                <a:spcPct val="90000"/>
              </a:lnSpc>
              <a:spcBef>
                <a:spcPts val="500"/>
              </a:spcBef>
              <a:spcAft>
                <a:spcPts val="0"/>
              </a:spcAft>
              <a:buClr>
                <a:srgbClr val="003057"/>
              </a:buClr>
              <a:buSzPts val="1800"/>
              <a:buChar char="•"/>
              <a:defRPr/>
            </a:lvl4pPr>
            <a:lvl5pPr marL="2286000" lvl="4" indent="-342900" algn="l">
              <a:lnSpc>
                <a:spcPct val="90000"/>
              </a:lnSpc>
              <a:spcBef>
                <a:spcPts val="500"/>
              </a:spcBef>
              <a:spcAft>
                <a:spcPts val="0"/>
              </a:spcAft>
              <a:buClr>
                <a:srgbClr val="003057"/>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5"/>
          <p:cNvSpPr txBox="1">
            <a:spLocks noGrp="1"/>
          </p:cNvSpPr>
          <p:nvPr>
            <p:ph type="body" idx="3"/>
          </p:nvPr>
        </p:nvSpPr>
        <p:spPr>
          <a:xfrm>
            <a:off x="6172200" y="1235113"/>
            <a:ext cx="56388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3057"/>
              </a:buClr>
              <a:buSzPts val="2400"/>
              <a:buNone/>
              <a:defRPr sz="2400" b="1"/>
            </a:lvl1pPr>
            <a:lvl2pPr marL="914400" lvl="1" indent="-228600" algn="l">
              <a:lnSpc>
                <a:spcPct val="90000"/>
              </a:lnSpc>
              <a:spcBef>
                <a:spcPts val="500"/>
              </a:spcBef>
              <a:spcAft>
                <a:spcPts val="0"/>
              </a:spcAft>
              <a:buClr>
                <a:srgbClr val="003057"/>
              </a:buClr>
              <a:buSzPts val="2000"/>
              <a:buNone/>
              <a:defRPr sz="2000" b="1"/>
            </a:lvl2pPr>
            <a:lvl3pPr marL="1371600" lvl="2" indent="-228600" algn="l">
              <a:lnSpc>
                <a:spcPct val="90000"/>
              </a:lnSpc>
              <a:spcBef>
                <a:spcPts val="500"/>
              </a:spcBef>
              <a:spcAft>
                <a:spcPts val="0"/>
              </a:spcAft>
              <a:buClr>
                <a:srgbClr val="003057"/>
              </a:buClr>
              <a:buSzPts val="1800"/>
              <a:buNone/>
              <a:defRPr sz="1800" b="1"/>
            </a:lvl3pPr>
            <a:lvl4pPr marL="1828800" lvl="3" indent="-228600" algn="l">
              <a:lnSpc>
                <a:spcPct val="90000"/>
              </a:lnSpc>
              <a:spcBef>
                <a:spcPts val="500"/>
              </a:spcBef>
              <a:spcAft>
                <a:spcPts val="0"/>
              </a:spcAft>
              <a:buClr>
                <a:srgbClr val="003057"/>
              </a:buClr>
              <a:buSzPts val="1600"/>
              <a:buNone/>
              <a:defRPr sz="1600" b="1"/>
            </a:lvl4pPr>
            <a:lvl5pPr marL="2286000" lvl="4" indent="-228600" algn="l">
              <a:lnSpc>
                <a:spcPct val="90000"/>
              </a:lnSpc>
              <a:spcBef>
                <a:spcPts val="500"/>
              </a:spcBef>
              <a:spcAft>
                <a:spcPts val="0"/>
              </a:spcAft>
              <a:buClr>
                <a:srgbClr val="003057"/>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6" name="Google Shape;36;p15"/>
          <p:cNvSpPr txBox="1">
            <a:spLocks noGrp="1"/>
          </p:cNvSpPr>
          <p:nvPr>
            <p:ph type="body" idx="4"/>
          </p:nvPr>
        </p:nvSpPr>
        <p:spPr>
          <a:xfrm>
            <a:off x="6172200" y="2078658"/>
            <a:ext cx="5638800" cy="336247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3057"/>
              </a:buClr>
              <a:buSzPts val="1800"/>
              <a:buChar char="•"/>
              <a:defRPr/>
            </a:lvl1pPr>
            <a:lvl2pPr marL="914400" lvl="1" indent="-342900" algn="l">
              <a:lnSpc>
                <a:spcPct val="90000"/>
              </a:lnSpc>
              <a:spcBef>
                <a:spcPts val="500"/>
              </a:spcBef>
              <a:spcAft>
                <a:spcPts val="0"/>
              </a:spcAft>
              <a:buClr>
                <a:srgbClr val="003057"/>
              </a:buClr>
              <a:buSzPts val="1800"/>
              <a:buChar char="•"/>
              <a:defRPr/>
            </a:lvl2pPr>
            <a:lvl3pPr marL="1371600" lvl="2" indent="-342900" algn="l">
              <a:lnSpc>
                <a:spcPct val="90000"/>
              </a:lnSpc>
              <a:spcBef>
                <a:spcPts val="500"/>
              </a:spcBef>
              <a:spcAft>
                <a:spcPts val="0"/>
              </a:spcAft>
              <a:buClr>
                <a:srgbClr val="003057"/>
              </a:buClr>
              <a:buSzPts val="1800"/>
              <a:buChar char="•"/>
              <a:defRPr/>
            </a:lvl3pPr>
            <a:lvl4pPr marL="1828800" lvl="3" indent="-342900" algn="l">
              <a:lnSpc>
                <a:spcPct val="90000"/>
              </a:lnSpc>
              <a:spcBef>
                <a:spcPts val="500"/>
              </a:spcBef>
              <a:spcAft>
                <a:spcPts val="0"/>
              </a:spcAft>
              <a:buClr>
                <a:srgbClr val="003057"/>
              </a:buClr>
              <a:buSzPts val="1800"/>
              <a:buChar char="•"/>
              <a:defRPr/>
            </a:lvl4pPr>
            <a:lvl5pPr marL="2286000" lvl="4" indent="-342900" algn="l">
              <a:lnSpc>
                <a:spcPct val="90000"/>
              </a:lnSpc>
              <a:spcBef>
                <a:spcPts val="500"/>
              </a:spcBef>
              <a:spcAft>
                <a:spcPts val="0"/>
              </a:spcAft>
              <a:buClr>
                <a:srgbClr val="003057"/>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15"/>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6"/>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6"/>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6"/>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6"/>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17"/>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18"/>
          <p:cNvSpPr txBox="1">
            <a:spLocks noGrp="1"/>
          </p:cNvSpPr>
          <p:nvPr>
            <p:ph type="title"/>
          </p:nvPr>
        </p:nvSpPr>
        <p:spPr>
          <a:xfrm>
            <a:off x="381001"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body" idx="1"/>
          </p:nvPr>
        </p:nvSpPr>
        <p:spPr>
          <a:xfrm>
            <a:off x="4313768" y="457201"/>
            <a:ext cx="7497233"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03057"/>
              </a:buClr>
              <a:buSzPts val="3200"/>
              <a:buChar char="•"/>
              <a:defRPr sz="3200"/>
            </a:lvl1pPr>
            <a:lvl2pPr marL="914400" lvl="1" indent="-406400" algn="l">
              <a:lnSpc>
                <a:spcPct val="90000"/>
              </a:lnSpc>
              <a:spcBef>
                <a:spcPts val="500"/>
              </a:spcBef>
              <a:spcAft>
                <a:spcPts val="0"/>
              </a:spcAft>
              <a:buClr>
                <a:srgbClr val="003057"/>
              </a:buClr>
              <a:buSzPts val="2800"/>
              <a:buChar char="•"/>
              <a:defRPr sz="2800"/>
            </a:lvl2pPr>
            <a:lvl3pPr marL="1371600" lvl="2" indent="-381000" algn="l">
              <a:lnSpc>
                <a:spcPct val="90000"/>
              </a:lnSpc>
              <a:spcBef>
                <a:spcPts val="500"/>
              </a:spcBef>
              <a:spcAft>
                <a:spcPts val="0"/>
              </a:spcAft>
              <a:buClr>
                <a:srgbClr val="003057"/>
              </a:buClr>
              <a:buSzPts val="2400"/>
              <a:buChar char="•"/>
              <a:defRPr sz="2400"/>
            </a:lvl3pPr>
            <a:lvl4pPr marL="1828800" lvl="3" indent="-355600" algn="l">
              <a:lnSpc>
                <a:spcPct val="90000"/>
              </a:lnSpc>
              <a:spcBef>
                <a:spcPts val="500"/>
              </a:spcBef>
              <a:spcAft>
                <a:spcPts val="0"/>
              </a:spcAft>
              <a:buClr>
                <a:srgbClr val="003057"/>
              </a:buClr>
              <a:buSzPts val="2000"/>
              <a:buChar char="•"/>
              <a:defRPr sz="2000"/>
            </a:lvl4pPr>
            <a:lvl5pPr marL="2286000" lvl="4" indent="-355600" algn="l">
              <a:lnSpc>
                <a:spcPct val="90000"/>
              </a:lnSpc>
              <a:spcBef>
                <a:spcPts val="500"/>
              </a:spcBef>
              <a:spcAft>
                <a:spcPts val="0"/>
              </a:spcAft>
              <a:buClr>
                <a:srgbClr val="003057"/>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3" name="Google Shape;53;p18"/>
          <p:cNvSpPr txBox="1">
            <a:spLocks noGrp="1"/>
          </p:cNvSpPr>
          <p:nvPr>
            <p:ph type="body" idx="2"/>
          </p:nvPr>
        </p:nvSpPr>
        <p:spPr>
          <a:xfrm>
            <a:off x="381001" y="2274849"/>
            <a:ext cx="3932767" cy="359413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3057"/>
              </a:buClr>
              <a:buSzPts val="1600"/>
              <a:buNone/>
              <a:defRPr sz="1600"/>
            </a:lvl1pPr>
            <a:lvl2pPr marL="914400" lvl="1" indent="-228600" algn="l">
              <a:lnSpc>
                <a:spcPct val="90000"/>
              </a:lnSpc>
              <a:spcBef>
                <a:spcPts val="500"/>
              </a:spcBef>
              <a:spcAft>
                <a:spcPts val="0"/>
              </a:spcAft>
              <a:buClr>
                <a:srgbClr val="003057"/>
              </a:buClr>
              <a:buSzPts val="1400"/>
              <a:buNone/>
              <a:defRPr sz="1400"/>
            </a:lvl2pPr>
            <a:lvl3pPr marL="1371600" lvl="2" indent="-228600" algn="l">
              <a:lnSpc>
                <a:spcPct val="90000"/>
              </a:lnSpc>
              <a:spcBef>
                <a:spcPts val="500"/>
              </a:spcBef>
              <a:spcAft>
                <a:spcPts val="0"/>
              </a:spcAft>
              <a:buClr>
                <a:srgbClr val="003057"/>
              </a:buClr>
              <a:buSzPts val="1200"/>
              <a:buNone/>
              <a:defRPr sz="1200"/>
            </a:lvl3pPr>
            <a:lvl4pPr marL="1828800" lvl="3" indent="-228600" algn="l">
              <a:lnSpc>
                <a:spcPct val="90000"/>
              </a:lnSpc>
              <a:spcBef>
                <a:spcPts val="500"/>
              </a:spcBef>
              <a:spcAft>
                <a:spcPts val="0"/>
              </a:spcAft>
              <a:buClr>
                <a:srgbClr val="003057"/>
              </a:buClr>
              <a:buSzPts val="1000"/>
              <a:buNone/>
              <a:defRPr sz="1000"/>
            </a:lvl4pPr>
            <a:lvl5pPr marL="2286000" lvl="4" indent="-228600" algn="l">
              <a:lnSpc>
                <a:spcPct val="90000"/>
              </a:lnSpc>
              <a:spcBef>
                <a:spcPts val="500"/>
              </a:spcBef>
              <a:spcAft>
                <a:spcPts val="0"/>
              </a:spcAft>
              <a:buClr>
                <a:srgbClr val="003057"/>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4" name="Google Shape;54;p18"/>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8"/>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7"/>
        <p:cNvGrpSpPr/>
        <p:nvPr/>
      </p:nvGrpSpPr>
      <p:grpSpPr>
        <a:xfrm>
          <a:off x="0" y="0"/>
          <a:ext cx="0" cy="0"/>
          <a:chOff x="0" y="0"/>
          <a:chExt cx="0" cy="0"/>
        </a:xfrm>
      </p:grpSpPr>
      <p:sp>
        <p:nvSpPr>
          <p:cNvPr id="58" name="Google Shape;58;p19"/>
          <p:cNvSpPr txBox="1">
            <a:spLocks noGrp="1"/>
          </p:cNvSpPr>
          <p:nvPr>
            <p:ph type="title"/>
          </p:nvPr>
        </p:nvSpPr>
        <p:spPr>
          <a:xfrm>
            <a:off x="381001"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9"/>
          <p:cNvSpPr>
            <a:spLocks noGrp="1"/>
          </p:cNvSpPr>
          <p:nvPr>
            <p:ph type="pic" idx="2"/>
          </p:nvPr>
        </p:nvSpPr>
        <p:spPr>
          <a:xfrm>
            <a:off x="4313768" y="457201"/>
            <a:ext cx="7497233" cy="4983934"/>
          </a:xfrm>
          <a:prstGeom prst="rect">
            <a:avLst/>
          </a:prstGeom>
          <a:noFill/>
          <a:ln>
            <a:noFill/>
          </a:ln>
        </p:spPr>
      </p:sp>
      <p:sp>
        <p:nvSpPr>
          <p:cNvPr id="60" name="Google Shape;60;p19"/>
          <p:cNvSpPr txBox="1">
            <a:spLocks noGrp="1"/>
          </p:cNvSpPr>
          <p:nvPr>
            <p:ph type="body" idx="1"/>
          </p:nvPr>
        </p:nvSpPr>
        <p:spPr>
          <a:xfrm>
            <a:off x="381001" y="2274850"/>
            <a:ext cx="3932767" cy="31662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3057"/>
              </a:buClr>
              <a:buSzPts val="1600"/>
              <a:buNone/>
              <a:defRPr sz="1600"/>
            </a:lvl1pPr>
            <a:lvl2pPr marL="914400" lvl="1" indent="-228600" algn="l">
              <a:lnSpc>
                <a:spcPct val="90000"/>
              </a:lnSpc>
              <a:spcBef>
                <a:spcPts val="500"/>
              </a:spcBef>
              <a:spcAft>
                <a:spcPts val="0"/>
              </a:spcAft>
              <a:buClr>
                <a:srgbClr val="003057"/>
              </a:buClr>
              <a:buSzPts val="1400"/>
              <a:buNone/>
              <a:defRPr sz="1400"/>
            </a:lvl2pPr>
            <a:lvl3pPr marL="1371600" lvl="2" indent="-228600" algn="l">
              <a:lnSpc>
                <a:spcPct val="90000"/>
              </a:lnSpc>
              <a:spcBef>
                <a:spcPts val="500"/>
              </a:spcBef>
              <a:spcAft>
                <a:spcPts val="0"/>
              </a:spcAft>
              <a:buClr>
                <a:srgbClr val="003057"/>
              </a:buClr>
              <a:buSzPts val="1200"/>
              <a:buNone/>
              <a:defRPr sz="1200"/>
            </a:lvl3pPr>
            <a:lvl4pPr marL="1828800" lvl="3" indent="-228600" algn="l">
              <a:lnSpc>
                <a:spcPct val="90000"/>
              </a:lnSpc>
              <a:spcBef>
                <a:spcPts val="500"/>
              </a:spcBef>
              <a:spcAft>
                <a:spcPts val="0"/>
              </a:spcAft>
              <a:buClr>
                <a:srgbClr val="003057"/>
              </a:buClr>
              <a:buSzPts val="1000"/>
              <a:buNone/>
              <a:defRPr sz="1000"/>
            </a:lvl4pPr>
            <a:lvl5pPr marL="2286000" lvl="4" indent="-228600" algn="l">
              <a:lnSpc>
                <a:spcPct val="90000"/>
              </a:lnSpc>
              <a:spcBef>
                <a:spcPts val="500"/>
              </a:spcBef>
              <a:spcAft>
                <a:spcPts val="0"/>
              </a:spcAft>
              <a:buClr>
                <a:srgbClr val="003057"/>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19"/>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9"/>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4"/>
        <p:cNvGrpSpPr/>
        <p:nvPr/>
      </p:nvGrpSpPr>
      <p:grpSpPr>
        <a:xfrm>
          <a:off x="0" y="0"/>
          <a:ext cx="0" cy="0"/>
          <a:chOff x="0" y="0"/>
          <a:chExt cx="0" cy="0"/>
        </a:xfrm>
      </p:grpSpPr>
      <p:sp>
        <p:nvSpPr>
          <p:cNvPr id="65" name="Google Shape;65;p20"/>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0"/>
          <p:cNvSpPr txBox="1">
            <a:spLocks noGrp="1"/>
          </p:cNvSpPr>
          <p:nvPr>
            <p:ph type="body" idx="1"/>
          </p:nvPr>
        </p:nvSpPr>
        <p:spPr>
          <a:xfrm rot="5400000">
            <a:off x="3983175" y="-2386690"/>
            <a:ext cx="4225650" cy="11430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3057"/>
              </a:buClr>
              <a:buSzPts val="1800"/>
              <a:buChar char="•"/>
              <a:defRPr/>
            </a:lvl1pPr>
            <a:lvl2pPr marL="914400" lvl="1" indent="-342900" algn="l">
              <a:lnSpc>
                <a:spcPct val="90000"/>
              </a:lnSpc>
              <a:spcBef>
                <a:spcPts val="500"/>
              </a:spcBef>
              <a:spcAft>
                <a:spcPts val="0"/>
              </a:spcAft>
              <a:buClr>
                <a:srgbClr val="003057"/>
              </a:buClr>
              <a:buSzPts val="1800"/>
              <a:buChar char="•"/>
              <a:defRPr/>
            </a:lvl2pPr>
            <a:lvl3pPr marL="1371600" lvl="2" indent="-342900" algn="l">
              <a:lnSpc>
                <a:spcPct val="90000"/>
              </a:lnSpc>
              <a:spcBef>
                <a:spcPts val="500"/>
              </a:spcBef>
              <a:spcAft>
                <a:spcPts val="0"/>
              </a:spcAft>
              <a:buClr>
                <a:srgbClr val="003057"/>
              </a:buClr>
              <a:buSzPts val="1800"/>
              <a:buChar char="•"/>
              <a:defRPr/>
            </a:lvl3pPr>
            <a:lvl4pPr marL="1828800" lvl="3" indent="-342900" algn="l">
              <a:lnSpc>
                <a:spcPct val="90000"/>
              </a:lnSpc>
              <a:spcBef>
                <a:spcPts val="500"/>
              </a:spcBef>
              <a:spcAft>
                <a:spcPts val="0"/>
              </a:spcAft>
              <a:buClr>
                <a:srgbClr val="003057"/>
              </a:buClr>
              <a:buSzPts val="1800"/>
              <a:buChar char="•"/>
              <a:defRPr/>
            </a:lvl4pPr>
            <a:lvl5pPr marL="2286000" lvl="4" indent="-342900" algn="l">
              <a:lnSpc>
                <a:spcPct val="90000"/>
              </a:lnSpc>
              <a:spcBef>
                <a:spcPts val="500"/>
              </a:spcBef>
              <a:spcAft>
                <a:spcPts val="0"/>
              </a:spcAft>
              <a:buClr>
                <a:srgbClr val="003057"/>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rot="5400000">
            <a:off x="7590632"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1"/>
          <p:cNvSpPr txBox="1">
            <a:spLocks noGrp="1"/>
          </p:cNvSpPr>
          <p:nvPr>
            <p:ph type="body" idx="1"/>
          </p:nvPr>
        </p:nvSpPr>
        <p:spPr>
          <a:xfrm rot="5400000">
            <a:off x="1875632" y="-1129506"/>
            <a:ext cx="5811838" cy="88011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3057"/>
              </a:buClr>
              <a:buSzPts val="1800"/>
              <a:buChar char="•"/>
              <a:defRPr/>
            </a:lvl1pPr>
            <a:lvl2pPr marL="914400" lvl="1" indent="-342900" algn="l">
              <a:lnSpc>
                <a:spcPct val="90000"/>
              </a:lnSpc>
              <a:spcBef>
                <a:spcPts val="500"/>
              </a:spcBef>
              <a:spcAft>
                <a:spcPts val="0"/>
              </a:spcAft>
              <a:buClr>
                <a:srgbClr val="003057"/>
              </a:buClr>
              <a:buSzPts val="1800"/>
              <a:buChar char="•"/>
              <a:defRPr/>
            </a:lvl2pPr>
            <a:lvl3pPr marL="1371600" lvl="2" indent="-342900" algn="l">
              <a:lnSpc>
                <a:spcPct val="90000"/>
              </a:lnSpc>
              <a:spcBef>
                <a:spcPts val="500"/>
              </a:spcBef>
              <a:spcAft>
                <a:spcPts val="0"/>
              </a:spcAft>
              <a:buClr>
                <a:srgbClr val="003057"/>
              </a:buClr>
              <a:buSzPts val="1800"/>
              <a:buChar char="•"/>
              <a:defRPr/>
            </a:lvl3pPr>
            <a:lvl4pPr marL="1828800" lvl="3" indent="-342900" algn="l">
              <a:lnSpc>
                <a:spcPct val="90000"/>
              </a:lnSpc>
              <a:spcBef>
                <a:spcPts val="500"/>
              </a:spcBef>
              <a:spcAft>
                <a:spcPts val="0"/>
              </a:spcAft>
              <a:buClr>
                <a:srgbClr val="003057"/>
              </a:buClr>
              <a:buSzPts val="1800"/>
              <a:buChar char="•"/>
              <a:defRPr/>
            </a:lvl4pPr>
            <a:lvl5pPr marL="2286000" lvl="4" indent="-342900" algn="l">
              <a:lnSpc>
                <a:spcPct val="90000"/>
              </a:lnSpc>
              <a:spcBef>
                <a:spcPts val="500"/>
              </a:spcBef>
              <a:spcAft>
                <a:spcPts val="0"/>
              </a:spcAft>
              <a:buClr>
                <a:srgbClr val="003057"/>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1"/>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1"/>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1"/>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381000" y="200722"/>
            <a:ext cx="11430000" cy="101476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A7934B"/>
              </a:buClr>
              <a:buSzPts val="3600"/>
              <a:buFont typeface="Roboto"/>
              <a:buNone/>
              <a:defRPr sz="3600" b="1" i="0" u="none" strike="noStrike" cap="none">
                <a:solidFill>
                  <a:srgbClr val="A7934B"/>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381000" y="1215485"/>
            <a:ext cx="11430000" cy="422565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3057"/>
              </a:buClr>
              <a:buSzPts val="2800"/>
              <a:buFont typeface="Arial"/>
              <a:buChar char="•"/>
              <a:defRPr sz="2800" b="0" i="0" u="none" strike="noStrike" cap="none">
                <a:solidFill>
                  <a:srgbClr val="003057"/>
                </a:solidFill>
                <a:latin typeface="Roboto"/>
                <a:ea typeface="Roboto"/>
                <a:cs typeface="Roboto"/>
                <a:sym typeface="Roboto"/>
              </a:defRPr>
            </a:lvl1pPr>
            <a:lvl2pPr marL="914400" marR="0" lvl="1" indent="-381000" algn="l" rtl="0">
              <a:lnSpc>
                <a:spcPct val="90000"/>
              </a:lnSpc>
              <a:spcBef>
                <a:spcPts val="500"/>
              </a:spcBef>
              <a:spcAft>
                <a:spcPts val="0"/>
              </a:spcAft>
              <a:buClr>
                <a:srgbClr val="003057"/>
              </a:buClr>
              <a:buSzPts val="2400"/>
              <a:buFont typeface="Arial"/>
              <a:buChar char="•"/>
              <a:defRPr sz="2400" b="0" i="0" u="none" strike="noStrike" cap="none">
                <a:solidFill>
                  <a:srgbClr val="003057"/>
                </a:solidFill>
                <a:latin typeface="Roboto"/>
                <a:ea typeface="Roboto"/>
                <a:cs typeface="Roboto"/>
                <a:sym typeface="Roboto"/>
              </a:defRPr>
            </a:lvl2pPr>
            <a:lvl3pPr marL="1371600" marR="0" lvl="2" indent="-355600" algn="l" rtl="0">
              <a:lnSpc>
                <a:spcPct val="90000"/>
              </a:lnSpc>
              <a:spcBef>
                <a:spcPts val="500"/>
              </a:spcBef>
              <a:spcAft>
                <a:spcPts val="0"/>
              </a:spcAft>
              <a:buClr>
                <a:srgbClr val="003057"/>
              </a:buClr>
              <a:buSzPts val="2000"/>
              <a:buFont typeface="Arial"/>
              <a:buChar char="•"/>
              <a:defRPr sz="2000" b="0" i="0" u="none" strike="noStrike" cap="none">
                <a:solidFill>
                  <a:srgbClr val="003057"/>
                </a:solidFill>
                <a:latin typeface="Roboto"/>
                <a:ea typeface="Roboto"/>
                <a:cs typeface="Roboto"/>
                <a:sym typeface="Roboto"/>
              </a:defRPr>
            </a:lvl3pPr>
            <a:lvl4pPr marL="1828800" marR="0" lvl="3" indent="-342900" algn="l" rtl="0">
              <a:lnSpc>
                <a:spcPct val="90000"/>
              </a:lnSpc>
              <a:spcBef>
                <a:spcPts val="500"/>
              </a:spcBef>
              <a:spcAft>
                <a:spcPts val="0"/>
              </a:spcAft>
              <a:buClr>
                <a:srgbClr val="003057"/>
              </a:buClr>
              <a:buSzPts val="1800"/>
              <a:buFont typeface="Arial"/>
              <a:buChar char="•"/>
              <a:defRPr sz="1800" b="0" i="0" u="none" strike="noStrike" cap="none">
                <a:solidFill>
                  <a:srgbClr val="003057"/>
                </a:solidFill>
                <a:latin typeface="Roboto"/>
                <a:ea typeface="Roboto"/>
                <a:cs typeface="Roboto"/>
                <a:sym typeface="Roboto"/>
              </a:defRPr>
            </a:lvl4pPr>
            <a:lvl5pPr marL="2286000" marR="0" lvl="4" indent="-342900" algn="l" rtl="0">
              <a:lnSpc>
                <a:spcPct val="90000"/>
              </a:lnSpc>
              <a:spcBef>
                <a:spcPts val="500"/>
              </a:spcBef>
              <a:spcAft>
                <a:spcPts val="0"/>
              </a:spcAft>
              <a:buClr>
                <a:srgbClr val="003057"/>
              </a:buClr>
              <a:buSzPts val="1800"/>
              <a:buFont typeface="Arial"/>
              <a:buChar char="•"/>
              <a:defRPr sz="1800" b="0" i="0" u="none" strike="noStrike" cap="none">
                <a:solidFill>
                  <a:srgbClr val="003057"/>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2"/>
          <p:cNvSpPr txBox="1">
            <a:spLocks noGrp="1"/>
          </p:cNvSpPr>
          <p:nvPr>
            <p:ph type="dt" idx="10"/>
          </p:nvPr>
        </p:nvSpPr>
        <p:spPr>
          <a:xfrm>
            <a:off x="381000" y="5441135"/>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2"/>
          <p:cNvSpPr txBox="1">
            <a:spLocks noGrp="1"/>
          </p:cNvSpPr>
          <p:nvPr>
            <p:ph type="ftr" idx="11"/>
          </p:nvPr>
        </p:nvSpPr>
        <p:spPr>
          <a:xfrm>
            <a:off x="3126154" y="5441135"/>
            <a:ext cx="5941647"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2"/>
          <p:cNvSpPr txBox="1">
            <a:spLocks noGrp="1"/>
          </p:cNvSpPr>
          <p:nvPr>
            <p:ph type="sldNum" idx="12"/>
          </p:nvPr>
        </p:nvSpPr>
        <p:spPr>
          <a:xfrm>
            <a:off x="9067800" y="544113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64" r:id="rId4"/>
    <p:sldLayoutId id="2147483662"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hedfirreport.com/2023/09/25/from-screenconnect-to-hive-ransomware-in-61-hours/"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customXml" Target="../ink/ink1.xml"/><Relationship Id="rId5" Type="http://schemas.openxmlformats.org/officeDocument/2006/relationships/image" Target="../media/image3.png"/><Relationship Id="rId4" Type="http://schemas.openxmlformats.org/officeDocument/2006/relationships/hyperlink" Target="https://thedfirreport.com/2022/09/26/bumblebee-round-two/" TargetMode="External"/><Relationship Id="rId9" Type="http://schemas.openxmlformats.org/officeDocument/2006/relationships/image" Target="../media/image40.png"/></Relationships>
</file>

<file path=ppt/slides/_rels/slide3.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notesSlide" Target="../notesSlides/notesSlide3.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1.jpeg"/><Relationship Id="rId5" Type="http://schemas.openxmlformats.org/officeDocument/2006/relationships/image" Target="../media/image10.pn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video" Target="../media/media2.mkv"/><Relationship Id="rId2" Type="http://schemas.microsoft.com/office/2007/relationships/media" Target="../media/media2.mkv"/><Relationship Id="rId1" Type="http://schemas.openxmlformats.org/officeDocument/2006/relationships/tags" Target="../tags/tag2.xml"/><Relationship Id="rId6" Type="http://schemas.openxmlformats.org/officeDocument/2006/relationships/image" Target="../media/image16.png"/><Relationship Id="rId5" Type="http://schemas.openxmlformats.org/officeDocument/2006/relationships/notesSlide" Target="../notesSlides/notesSlide9.xml"/><Relationship Id="rId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
        <p:cNvGrpSpPr/>
        <p:nvPr/>
      </p:nvGrpSpPr>
      <p:grpSpPr>
        <a:xfrm>
          <a:off x="0" y="0"/>
          <a:ext cx="0" cy="0"/>
          <a:chOff x="0" y="0"/>
          <a:chExt cx="0" cy="0"/>
        </a:xfrm>
      </p:grpSpPr>
      <p:sp>
        <p:nvSpPr>
          <p:cNvPr id="80" name="Google Shape;80;p1"/>
          <p:cNvSpPr txBox="1">
            <a:spLocks noGrp="1"/>
          </p:cNvSpPr>
          <p:nvPr>
            <p:ph type="ctrTitle"/>
          </p:nvPr>
        </p:nvSpPr>
        <p:spPr>
          <a:xfrm>
            <a:off x="1615175" y="1840275"/>
            <a:ext cx="8460300" cy="15159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14285"/>
              </a:lnSpc>
              <a:spcBef>
                <a:spcPts val="0"/>
              </a:spcBef>
              <a:spcAft>
                <a:spcPts val="0"/>
              </a:spcAft>
              <a:buClr>
                <a:srgbClr val="003057"/>
              </a:buClr>
              <a:buSzPts val="4200"/>
              <a:buFont typeface="Roboto"/>
              <a:buNone/>
            </a:pPr>
            <a:r>
              <a:rPr lang="en-US" dirty="0">
                <a:latin typeface="Aptos Serif" panose="02020604070405020304" pitchFamily="18" charset="0"/>
                <a:cs typeface="Aptos Serif" panose="02020604070405020304" pitchFamily="18" charset="0"/>
              </a:rPr>
              <a:t>Living off The Land Attacks: Applications IoC Generator </a:t>
            </a:r>
            <a:endParaRPr dirty="0">
              <a:latin typeface="Aptos Serif" panose="02020604070405020304" pitchFamily="18" charset="0"/>
              <a:cs typeface="Aptos Serif" panose="02020604070405020304" pitchFamily="18" charset="0"/>
            </a:endParaRPr>
          </a:p>
        </p:txBody>
      </p:sp>
      <p:sp>
        <p:nvSpPr>
          <p:cNvPr id="81" name="Google Shape;81;p1"/>
          <p:cNvSpPr txBox="1">
            <a:spLocks noGrp="1"/>
          </p:cNvSpPr>
          <p:nvPr>
            <p:ph type="subTitle" idx="1"/>
          </p:nvPr>
        </p:nvSpPr>
        <p:spPr>
          <a:xfrm>
            <a:off x="3707000" y="3514900"/>
            <a:ext cx="3984900" cy="6939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3057"/>
              </a:buClr>
              <a:buSzPts val="1800"/>
              <a:buNone/>
            </a:pPr>
            <a:r>
              <a:rPr lang="en-US" b="1" dirty="0">
                <a:solidFill>
                  <a:srgbClr val="003057"/>
                </a:solidFill>
                <a:latin typeface="Aptos Serif" panose="02020604070405020304" pitchFamily="18" charset="0"/>
                <a:cs typeface="Aptos Serif" panose="02020604070405020304" pitchFamily="18" charset="0"/>
                <a:sym typeface="Roboto"/>
              </a:rPr>
              <a:t>Vedika Bang</a:t>
            </a:r>
            <a:endParaRPr b="1" dirty="0">
              <a:solidFill>
                <a:srgbClr val="003057"/>
              </a:solidFill>
              <a:latin typeface="Aptos Serif" panose="02020604070405020304" pitchFamily="18" charset="0"/>
              <a:cs typeface="Aptos Serif" panose="02020604070405020304" pitchFamily="18" charset="0"/>
            </a:endParaRPr>
          </a:p>
          <a:p>
            <a:pPr marL="0" lvl="0" indent="0" algn="ctr" rtl="0">
              <a:lnSpc>
                <a:spcPct val="100000"/>
              </a:lnSpc>
              <a:spcBef>
                <a:spcPts val="0"/>
              </a:spcBef>
              <a:spcAft>
                <a:spcPts val="0"/>
              </a:spcAft>
              <a:buClr>
                <a:srgbClr val="003057"/>
              </a:buClr>
              <a:buSzPts val="1800"/>
              <a:buNone/>
            </a:pPr>
            <a:r>
              <a:rPr lang="en-US" b="1" dirty="0">
                <a:latin typeface="Aptos Serif" panose="02020604070405020304" pitchFamily="18" charset="0"/>
                <a:cs typeface="Aptos Serif" panose="02020604070405020304" pitchFamily="18" charset="0"/>
              </a:rPr>
              <a:t>Nov 12,</a:t>
            </a:r>
            <a:r>
              <a:rPr lang="en-US" sz="1800" b="1" dirty="0">
                <a:solidFill>
                  <a:srgbClr val="857437"/>
                </a:solidFill>
                <a:latin typeface="Aptos Serif" panose="02020604070405020304" pitchFamily="18" charset="0"/>
                <a:cs typeface="Aptos Serif" panose="02020604070405020304" pitchFamily="18" charset="0"/>
                <a:sym typeface="Roboto"/>
              </a:rPr>
              <a:t> 202</a:t>
            </a:r>
            <a:r>
              <a:rPr lang="en-US" b="1" dirty="0">
                <a:latin typeface="Aptos Serif" panose="02020604070405020304" pitchFamily="18" charset="0"/>
                <a:cs typeface="Aptos Serif" panose="02020604070405020304" pitchFamily="18" charset="0"/>
              </a:rPr>
              <a:t>3</a:t>
            </a:r>
            <a:endParaRPr b="1" dirty="0">
              <a:latin typeface="Aptos Serif" panose="02020604070405020304" pitchFamily="18" charset="0"/>
              <a:cs typeface="Aptos Serif" panose="02020604070405020304" pitchFamily="18" charset="0"/>
            </a:endParaRPr>
          </a:p>
        </p:txBody>
      </p:sp>
    </p:spTree>
    <p:extLst>
      <p:ext uri="{BB962C8B-B14F-4D97-AF65-F5344CB8AC3E}">
        <p14:creationId xmlns:p14="http://schemas.microsoft.com/office/powerpoint/2010/main" val="1672337505"/>
      </p:ext>
    </p:extLst>
  </p:cSld>
  <p:clrMapOvr>
    <a:masterClrMapping/>
  </p:clrMapOvr>
  <mc:AlternateContent xmlns:mc="http://schemas.openxmlformats.org/markup-compatibility/2006" xmlns:p14="http://schemas.microsoft.com/office/powerpoint/2010/main">
    <mc:Choice Requires="p14">
      <p:transition spd="slow" p14:dur="2000" advTm="7183"/>
    </mc:Choice>
    <mc:Fallback xmlns="">
      <p:transition spd="slow" advTm="718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FA8A1-17C3-841A-C7DA-1BAAC862E697}"/>
              </a:ext>
            </a:extLst>
          </p:cNvPr>
          <p:cNvSpPr>
            <a:spLocks noGrp="1"/>
          </p:cNvSpPr>
          <p:nvPr>
            <p:ph type="title"/>
          </p:nvPr>
        </p:nvSpPr>
        <p:spPr/>
        <p:txBody>
          <a:bodyPr>
            <a:normAutofit/>
          </a:bodyPr>
          <a:lstStyle/>
          <a:p>
            <a:r>
              <a:rPr lang="en-US" dirty="0">
                <a:latin typeface="Aptos Serif" panose="02020604070405020304" pitchFamily="18" charset="0"/>
                <a:cs typeface="Aptos Serif" panose="02020604070405020304" pitchFamily="18" charset="0"/>
              </a:rPr>
              <a:t>Introduction</a:t>
            </a:r>
          </a:p>
        </p:txBody>
      </p:sp>
      <p:sp>
        <p:nvSpPr>
          <p:cNvPr id="3" name="Text Placeholder 2">
            <a:extLst>
              <a:ext uri="{FF2B5EF4-FFF2-40B4-BE49-F238E27FC236}">
                <a16:creationId xmlns:a16="http://schemas.microsoft.com/office/drawing/2014/main" id="{95C917B5-8C5D-F2A8-D330-761ED46DAA35}"/>
              </a:ext>
            </a:extLst>
          </p:cNvPr>
          <p:cNvSpPr>
            <a:spLocks noGrp="1"/>
          </p:cNvSpPr>
          <p:nvPr>
            <p:ph type="body" idx="1"/>
          </p:nvPr>
        </p:nvSpPr>
        <p:spPr>
          <a:xfrm>
            <a:off x="298366" y="1430636"/>
            <a:ext cx="6210010" cy="4225652"/>
          </a:xfrm>
        </p:spPr>
        <p:txBody>
          <a:bodyPr>
            <a:normAutofit/>
          </a:bodyPr>
          <a:lstStyle/>
          <a:p>
            <a:r>
              <a:rPr lang="en-US" sz="1600" b="1" dirty="0">
                <a:solidFill>
                  <a:schemeClr val="bg2">
                    <a:lumMod val="50000"/>
                  </a:schemeClr>
                </a:solidFill>
                <a:latin typeface="Aptos Serif" panose="02020604070405020304" pitchFamily="18" charset="0"/>
                <a:cs typeface="Aptos Serif" panose="02020604070405020304" pitchFamily="18" charset="0"/>
              </a:rPr>
              <a:t>71% *Fileless malware attacks</a:t>
            </a:r>
          </a:p>
          <a:p>
            <a:pPr marL="114300" indent="0">
              <a:buNone/>
            </a:pPr>
            <a:endParaRPr lang="en-US" sz="1600" b="1" dirty="0">
              <a:solidFill>
                <a:schemeClr val="bg2">
                  <a:lumMod val="50000"/>
                </a:schemeClr>
              </a:solidFill>
              <a:latin typeface="Aptos Serif" panose="02020604070405020304" pitchFamily="18" charset="0"/>
              <a:cs typeface="Aptos Serif" panose="02020604070405020304" pitchFamily="18" charset="0"/>
            </a:endParaRPr>
          </a:p>
          <a:p>
            <a:pPr lvl="1"/>
            <a:r>
              <a:rPr lang="en-US" sz="1600" b="1" i="0" dirty="0">
                <a:solidFill>
                  <a:schemeClr val="bg2">
                    <a:lumMod val="50000"/>
                  </a:schemeClr>
                </a:solidFill>
                <a:effectLst/>
                <a:latin typeface="Aptos Serif" panose="02020604070405020304" pitchFamily="18" charset="0"/>
                <a:cs typeface="Aptos Serif" panose="02020604070405020304" pitchFamily="18" charset="0"/>
              </a:rPr>
              <a:t>From </a:t>
            </a:r>
            <a:r>
              <a:rPr lang="en-US" sz="1600" b="1" i="0" dirty="0" err="1">
                <a:solidFill>
                  <a:schemeClr val="accent2"/>
                </a:solidFill>
                <a:effectLst/>
                <a:latin typeface="Aptos Serif" panose="02020604070405020304" pitchFamily="18" charset="0"/>
                <a:cs typeface="Aptos Serif" panose="02020604070405020304" pitchFamily="18" charset="0"/>
                <a:hlinkClick r:id="rId3">
                  <a:extLst>
                    <a:ext uri="{A12FA001-AC4F-418D-AE19-62706E023703}">
                      <ahyp:hlinkClr xmlns:ahyp="http://schemas.microsoft.com/office/drawing/2018/hyperlinkcolor" val="tx"/>
                    </a:ext>
                  </a:extLst>
                </a:hlinkClick>
              </a:rPr>
              <a:t>ScreenConnect</a:t>
            </a:r>
            <a:r>
              <a:rPr lang="en-US" sz="1600" b="1" i="0" dirty="0">
                <a:solidFill>
                  <a:schemeClr val="bg2">
                    <a:lumMod val="50000"/>
                  </a:schemeClr>
                </a:solidFill>
                <a:effectLst/>
                <a:latin typeface="Aptos Serif" panose="02020604070405020304" pitchFamily="18" charset="0"/>
                <a:cs typeface="Aptos Serif" panose="02020604070405020304" pitchFamily="18" charset="0"/>
              </a:rPr>
              <a:t> to Hive Ransomware in 61 hours</a:t>
            </a:r>
          </a:p>
          <a:p>
            <a:pPr lvl="1"/>
            <a:r>
              <a:rPr lang="en-US" sz="1600" b="1" i="0" dirty="0" err="1">
                <a:solidFill>
                  <a:schemeClr val="bg2">
                    <a:lumMod val="50000"/>
                  </a:schemeClr>
                </a:solidFill>
                <a:effectLst/>
                <a:latin typeface="Aptos Serif" panose="02020604070405020304" pitchFamily="18" charset="0"/>
                <a:cs typeface="Aptos Serif" panose="02020604070405020304" pitchFamily="18" charset="0"/>
              </a:rPr>
              <a:t>BumbleBee</a:t>
            </a:r>
            <a:r>
              <a:rPr lang="en-US" sz="1600" b="1" i="0" dirty="0">
                <a:solidFill>
                  <a:schemeClr val="bg2">
                    <a:lumMod val="50000"/>
                  </a:schemeClr>
                </a:solidFill>
                <a:effectLst/>
                <a:latin typeface="Aptos Serif" panose="02020604070405020304" pitchFamily="18" charset="0"/>
                <a:cs typeface="Aptos Serif" panose="02020604070405020304" pitchFamily="18" charset="0"/>
              </a:rPr>
              <a:t>: Round Two </a:t>
            </a:r>
            <a:r>
              <a:rPr lang="en-US" sz="1600" b="1" i="0" dirty="0">
                <a:solidFill>
                  <a:schemeClr val="accent2"/>
                </a:solidFill>
                <a:effectLst/>
                <a:latin typeface="Aptos Serif" panose="02020604070405020304" pitchFamily="18" charset="0"/>
                <a:cs typeface="Aptos Serif" panose="02020604070405020304" pitchFamily="18" charset="0"/>
                <a:hlinkClick r:id="rId4">
                  <a:extLst>
                    <a:ext uri="{A12FA001-AC4F-418D-AE19-62706E023703}">
                      <ahyp:hlinkClr xmlns:ahyp="http://schemas.microsoft.com/office/drawing/2018/hyperlinkcolor" val="tx"/>
                    </a:ext>
                  </a:extLst>
                </a:hlinkClick>
              </a:rPr>
              <a:t>[</a:t>
            </a:r>
            <a:r>
              <a:rPr lang="en-US" sz="1600" b="1" i="0" dirty="0" err="1">
                <a:solidFill>
                  <a:schemeClr val="accent2"/>
                </a:solidFill>
                <a:effectLst/>
                <a:latin typeface="Aptos Serif" panose="02020604070405020304" pitchFamily="18" charset="0"/>
                <a:cs typeface="Aptos Serif" panose="02020604070405020304" pitchFamily="18" charset="0"/>
                <a:hlinkClick r:id="rId4">
                  <a:extLst>
                    <a:ext uri="{A12FA001-AC4F-418D-AE19-62706E023703}">
                      <ahyp:hlinkClr xmlns:ahyp="http://schemas.microsoft.com/office/drawing/2018/hyperlinkcolor" val="tx"/>
                    </a:ext>
                  </a:extLst>
                </a:hlinkClick>
              </a:rPr>
              <a:t>AnyDesk</a:t>
            </a:r>
            <a:r>
              <a:rPr lang="en-US" sz="1600" b="1" i="0" dirty="0">
                <a:solidFill>
                  <a:schemeClr val="accent2"/>
                </a:solidFill>
                <a:effectLst/>
                <a:latin typeface="Aptos Serif" panose="02020604070405020304" pitchFamily="18" charset="0"/>
                <a:cs typeface="Aptos Serif" panose="02020604070405020304" pitchFamily="18" charset="0"/>
                <a:hlinkClick r:id="rId4">
                  <a:extLst>
                    <a:ext uri="{A12FA001-AC4F-418D-AE19-62706E023703}">
                      <ahyp:hlinkClr xmlns:ahyp="http://schemas.microsoft.com/office/drawing/2018/hyperlinkcolor" val="tx"/>
                    </a:ext>
                  </a:extLst>
                </a:hlinkClick>
              </a:rPr>
              <a:t>]</a:t>
            </a:r>
            <a:endParaRPr lang="en-US" sz="1600" b="1" i="0" dirty="0">
              <a:solidFill>
                <a:schemeClr val="accent2"/>
              </a:solidFill>
              <a:effectLst/>
              <a:latin typeface="Aptos Serif" panose="02020604070405020304" pitchFamily="18" charset="0"/>
              <a:cs typeface="Aptos Serif" panose="02020604070405020304" pitchFamily="18" charset="0"/>
            </a:endParaRPr>
          </a:p>
          <a:p>
            <a:pPr marL="571500" lvl="1" indent="0">
              <a:buNone/>
            </a:pPr>
            <a:endParaRPr lang="en-US" sz="1600" b="1" dirty="0">
              <a:solidFill>
                <a:schemeClr val="bg2">
                  <a:lumMod val="50000"/>
                </a:schemeClr>
              </a:solidFill>
              <a:latin typeface="Aptos Serif" panose="02020604070405020304" pitchFamily="18" charset="0"/>
              <a:cs typeface="Aptos Serif" panose="02020604070405020304" pitchFamily="18" charset="0"/>
            </a:endParaRPr>
          </a:p>
          <a:p>
            <a:r>
              <a:rPr lang="en-US" sz="1600" b="1" dirty="0" err="1">
                <a:solidFill>
                  <a:schemeClr val="bg2">
                    <a:lumMod val="50000"/>
                  </a:schemeClr>
                </a:solidFill>
                <a:latin typeface="Aptos Serif" panose="02020604070405020304" pitchFamily="18" charset="0"/>
                <a:cs typeface="Aptos Serif" panose="02020604070405020304" pitchFamily="18" charset="0"/>
              </a:rPr>
              <a:t>LoLBas</a:t>
            </a:r>
            <a:r>
              <a:rPr lang="en-US" sz="1600" b="1" dirty="0">
                <a:solidFill>
                  <a:schemeClr val="bg2">
                    <a:lumMod val="50000"/>
                  </a:schemeClr>
                </a:solidFill>
                <a:latin typeface="Aptos Serif" panose="02020604070405020304" pitchFamily="18" charset="0"/>
                <a:cs typeface="Aptos Serif" panose="02020604070405020304" pitchFamily="18" charset="0"/>
              </a:rPr>
              <a:t>/</a:t>
            </a:r>
            <a:r>
              <a:rPr lang="en-US" sz="1600" b="1" dirty="0" err="1">
                <a:solidFill>
                  <a:schemeClr val="bg2">
                    <a:lumMod val="50000"/>
                  </a:schemeClr>
                </a:solidFill>
                <a:latin typeface="Aptos Serif" panose="02020604070405020304" pitchFamily="18" charset="0"/>
                <a:cs typeface="Aptos Serif" panose="02020604070405020304" pitchFamily="18" charset="0"/>
              </a:rPr>
              <a:t>GTFOBins</a:t>
            </a:r>
            <a:endParaRPr lang="en-US" sz="1600" b="1" dirty="0">
              <a:solidFill>
                <a:schemeClr val="bg2">
                  <a:lumMod val="50000"/>
                </a:schemeClr>
              </a:solidFill>
              <a:latin typeface="Aptos Serif" panose="02020604070405020304" pitchFamily="18" charset="0"/>
              <a:cs typeface="Aptos Serif" panose="02020604070405020304" pitchFamily="18" charset="0"/>
            </a:endParaRPr>
          </a:p>
          <a:p>
            <a:pPr marL="114300" indent="0">
              <a:buNone/>
            </a:pPr>
            <a:endParaRPr lang="en-US" sz="1600" b="1" dirty="0">
              <a:solidFill>
                <a:schemeClr val="bg2">
                  <a:lumMod val="50000"/>
                </a:schemeClr>
              </a:solidFill>
              <a:latin typeface="Aptos Serif" panose="02020604070405020304" pitchFamily="18" charset="0"/>
              <a:cs typeface="Aptos Serif" panose="02020604070405020304" pitchFamily="18" charset="0"/>
            </a:endParaRPr>
          </a:p>
          <a:p>
            <a:pPr lvl="1"/>
            <a:r>
              <a:rPr lang="en-US" sz="1500" b="1" dirty="0">
                <a:solidFill>
                  <a:schemeClr val="bg2">
                    <a:lumMod val="50000"/>
                  </a:schemeClr>
                </a:solidFill>
                <a:latin typeface="Aptos Serif" panose="02020604070405020304" pitchFamily="18" charset="0"/>
                <a:cs typeface="Aptos Serif" panose="02020604070405020304" pitchFamily="18" charset="0"/>
              </a:rPr>
              <a:t>It is difficult to exploit binaries</a:t>
            </a:r>
          </a:p>
          <a:p>
            <a:pPr marL="571500" lvl="1" indent="0">
              <a:buNone/>
            </a:pPr>
            <a:endParaRPr lang="en-US" sz="1500" b="1" dirty="0">
              <a:solidFill>
                <a:schemeClr val="bg2">
                  <a:lumMod val="50000"/>
                </a:schemeClr>
              </a:solidFill>
              <a:latin typeface="Aptos Serif" panose="02020604070405020304" pitchFamily="18" charset="0"/>
              <a:cs typeface="Aptos Serif" panose="02020604070405020304" pitchFamily="18" charset="0"/>
            </a:endParaRPr>
          </a:p>
          <a:p>
            <a:r>
              <a:rPr lang="en-US" sz="1600" b="1" dirty="0">
                <a:solidFill>
                  <a:schemeClr val="bg2">
                    <a:lumMod val="50000"/>
                  </a:schemeClr>
                </a:solidFill>
                <a:latin typeface="Aptos Serif" panose="02020604070405020304" pitchFamily="18" charset="0"/>
                <a:cs typeface="Aptos Serif" panose="02020604070405020304" pitchFamily="18" charset="0"/>
              </a:rPr>
              <a:t>RMM tools - Free trial for 15 days!!</a:t>
            </a:r>
          </a:p>
          <a:p>
            <a:pPr marL="571500" lvl="1" indent="0">
              <a:buNone/>
            </a:pPr>
            <a:endParaRPr lang="en-US" sz="1600" b="1" dirty="0">
              <a:solidFill>
                <a:schemeClr val="tx1"/>
              </a:solidFill>
              <a:latin typeface="Aptos Serif" panose="02020604070405020304" pitchFamily="18" charset="0"/>
              <a:cs typeface="Aptos Serif" panose="02020604070405020304" pitchFamily="18" charset="0"/>
            </a:endParaRPr>
          </a:p>
          <a:p>
            <a:pPr marL="114300" indent="0">
              <a:buNone/>
            </a:pPr>
            <a:endParaRPr lang="en-US" sz="1600" b="1" dirty="0">
              <a:latin typeface="Aptos Serif" panose="02020604070405020304" pitchFamily="18" charset="0"/>
              <a:cs typeface="Aptos Serif" panose="02020604070405020304" pitchFamily="18" charset="0"/>
            </a:endParaRPr>
          </a:p>
          <a:p>
            <a:pPr marL="114300" indent="0">
              <a:buNone/>
            </a:pPr>
            <a:endParaRPr lang="en-US" sz="1600" b="1" dirty="0">
              <a:latin typeface="Aptos Serif" panose="02020604070405020304" pitchFamily="18" charset="0"/>
              <a:cs typeface="Aptos Serif" panose="02020604070405020304" pitchFamily="18" charset="0"/>
            </a:endParaRPr>
          </a:p>
          <a:p>
            <a:endParaRPr lang="en-US" sz="1600" b="1" dirty="0">
              <a:latin typeface="Aptos Serif" panose="02020604070405020304" pitchFamily="18" charset="0"/>
              <a:cs typeface="Aptos Serif" panose="02020604070405020304" pitchFamily="18" charset="0"/>
            </a:endParaRPr>
          </a:p>
          <a:p>
            <a:endParaRPr lang="en-US" sz="1600" b="1" dirty="0">
              <a:latin typeface="Aptos Serif" panose="02020604070405020304" pitchFamily="18" charset="0"/>
              <a:cs typeface="Aptos Serif" panose="02020604070405020304" pitchFamily="18" charset="0"/>
            </a:endParaRPr>
          </a:p>
          <a:p>
            <a:endParaRPr lang="en-US" sz="1600" dirty="0"/>
          </a:p>
          <a:p>
            <a:endParaRPr lang="en-US" sz="1600" dirty="0"/>
          </a:p>
        </p:txBody>
      </p:sp>
      <p:pic>
        <p:nvPicPr>
          <p:cNvPr id="3074" name="Picture 2">
            <a:extLst>
              <a:ext uri="{FF2B5EF4-FFF2-40B4-BE49-F238E27FC236}">
                <a16:creationId xmlns:a16="http://schemas.microsoft.com/office/drawing/2014/main" id="{58210D55-3756-7BE7-EB42-51BB2BF6E5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2969" y="1430637"/>
            <a:ext cx="5525761" cy="422565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B9424F0-7042-D86B-055F-7AB4D8E28534}"/>
                  </a:ext>
                </a:extLst>
              </p14:cNvPr>
              <p14:cNvContentPartPr/>
              <p14:nvPr/>
            </p14:nvContentPartPr>
            <p14:xfrm>
              <a:off x="7329833" y="2167412"/>
              <a:ext cx="1051200" cy="624600"/>
            </p14:xfrm>
          </p:contentPart>
        </mc:Choice>
        <mc:Fallback xmlns="">
          <p:pic>
            <p:nvPicPr>
              <p:cNvPr id="5" name="Ink 4">
                <a:extLst>
                  <a:ext uri="{FF2B5EF4-FFF2-40B4-BE49-F238E27FC236}">
                    <a16:creationId xmlns:a16="http://schemas.microsoft.com/office/drawing/2014/main" id="{EB9424F0-7042-D86B-055F-7AB4D8E28534}"/>
                  </a:ext>
                </a:extLst>
              </p:cNvPr>
              <p:cNvPicPr/>
              <p:nvPr/>
            </p:nvPicPr>
            <p:blipFill>
              <a:blip r:embed="rId9"/>
              <a:stretch>
                <a:fillRect/>
              </a:stretch>
            </p:blipFill>
            <p:spPr>
              <a:xfrm>
                <a:off x="7320833" y="2158412"/>
                <a:ext cx="1068840" cy="642240"/>
              </a:xfrm>
              <a:prstGeom prst="rect">
                <a:avLst/>
              </a:prstGeom>
            </p:spPr>
          </p:pic>
        </mc:Fallback>
      </mc:AlternateContent>
    </p:spTree>
    <p:extLst>
      <p:ext uri="{BB962C8B-B14F-4D97-AF65-F5344CB8AC3E}">
        <p14:creationId xmlns:p14="http://schemas.microsoft.com/office/powerpoint/2010/main" val="2179089414"/>
      </p:ext>
    </p:extLst>
  </p:cSld>
  <p:clrMapOvr>
    <a:masterClrMapping/>
  </p:clrMapOvr>
  <mc:AlternateContent xmlns:mc="http://schemas.openxmlformats.org/markup-compatibility/2006" xmlns:p14="http://schemas.microsoft.com/office/powerpoint/2010/main">
    <mc:Choice Requires="p14">
      <p:transition spd="slow" p14:dur="2000" advTm="56584"/>
    </mc:Choice>
    <mc:Fallback xmlns="">
      <p:transition spd="slow" advTm="5658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lolapp">
            <a:hlinkClick r:id="" action="ppaction://media"/>
            <a:extLst>
              <a:ext uri="{FF2B5EF4-FFF2-40B4-BE49-F238E27FC236}">
                <a16:creationId xmlns:a16="http://schemas.microsoft.com/office/drawing/2014/main" id="{57AB4E94-594F-7EEA-3760-D110CEA377CD}"/>
              </a:ext>
            </a:extLst>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973569" y="360381"/>
            <a:ext cx="10628554" cy="5437991"/>
          </a:xfrm>
          <a:prstGeom prst="rect">
            <a:avLst/>
          </a:prstGeom>
          <a:ln>
            <a:noFill/>
          </a:ln>
          <a:effectLst>
            <a:outerShdw blurRad="190500" algn="tl" rotWithShape="0">
              <a:srgbClr val="000000">
                <a:alpha val="70000"/>
              </a:srgbClr>
            </a:outerShdw>
          </a:effectLst>
        </p:spPr>
      </p:pic>
      <p:sp>
        <p:nvSpPr>
          <p:cNvPr id="2" name="TextBox 1">
            <a:extLst>
              <a:ext uri="{FF2B5EF4-FFF2-40B4-BE49-F238E27FC236}">
                <a16:creationId xmlns:a16="http://schemas.microsoft.com/office/drawing/2014/main" id="{ACCC1BBF-CD4A-455B-9A3E-24E0233A310F}"/>
              </a:ext>
            </a:extLst>
          </p:cNvPr>
          <p:cNvSpPr txBox="1"/>
          <p:nvPr/>
        </p:nvSpPr>
        <p:spPr>
          <a:xfrm>
            <a:off x="3732292" y="5900569"/>
            <a:ext cx="5207516" cy="369332"/>
          </a:xfrm>
          <a:prstGeom prst="rect">
            <a:avLst/>
          </a:prstGeom>
          <a:noFill/>
        </p:spPr>
        <p:txBody>
          <a:bodyPr wrap="none" rtlCol="0">
            <a:spAutoFit/>
          </a:bodyPr>
          <a:lstStyle/>
          <a:p>
            <a:r>
              <a:rPr lang="en-US" dirty="0"/>
              <a:t>*Please press space to play the video, thank you!</a:t>
            </a:r>
          </a:p>
        </p:txBody>
      </p:sp>
    </p:spTree>
    <p:custDataLst>
      <p:tags r:id="rId1"/>
    </p:custDataLst>
    <p:extLst>
      <p:ext uri="{BB962C8B-B14F-4D97-AF65-F5344CB8AC3E}">
        <p14:creationId xmlns:p14="http://schemas.microsoft.com/office/powerpoint/2010/main" val="1558911827"/>
      </p:ext>
    </p:extLst>
  </p:cSld>
  <p:clrMapOvr>
    <a:masterClrMapping/>
  </p:clrMapOvr>
  <mc:AlternateContent xmlns:mc="http://schemas.openxmlformats.org/markup-compatibility/2006" xmlns:p14="http://schemas.microsoft.com/office/powerpoint/2010/main">
    <mc:Choice Requires="p14">
      <p:transition spd="slow" p14:dur="2000" advTm="25021"/>
    </mc:Choice>
    <mc:Fallback xmlns="">
      <p:transition spd="slow" advTm="2502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91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extLst>
    <p:ext uri="{E180D4A7-C9FB-4DFB-919C-405C955672EB}">
      <p14:showEvtLst xmlns:p14="http://schemas.microsoft.com/office/powerpoint/2010/main">
        <p14:playEvt time="6856" objId="4"/>
        <p14:stopEvt time="25021" objId="4"/>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60056-A9C6-1D49-7A7F-ED8B52229B98}"/>
              </a:ext>
            </a:extLst>
          </p:cNvPr>
          <p:cNvSpPr>
            <a:spLocks noGrp="1"/>
          </p:cNvSpPr>
          <p:nvPr>
            <p:ph type="title"/>
          </p:nvPr>
        </p:nvSpPr>
        <p:spPr/>
        <p:txBody>
          <a:bodyPr/>
          <a:lstStyle/>
          <a:p>
            <a:r>
              <a:rPr lang="en-US" dirty="0">
                <a:latin typeface="Aptos Serif" panose="02020604070405020304" pitchFamily="18" charset="0"/>
                <a:cs typeface="Aptos Serif" panose="02020604070405020304" pitchFamily="18" charset="0"/>
              </a:rPr>
              <a:t>Are Existing Solutions Not Enough ?</a:t>
            </a:r>
          </a:p>
        </p:txBody>
      </p:sp>
      <p:sp>
        <p:nvSpPr>
          <p:cNvPr id="3" name="Text Placeholder 2">
            <a:extLst>
              <a:ext uri="{FF2B5EF4-FFF2-40B4-BE49-F238E27FC236}">
                <a16:creationId xmlns:a16="http://schemas.microsoft.com/office/drawing/2014/main" id="{7F1433C5-4545-CDA8-F97C-10B462246F14}"/>
              </a:ext>
            </a:extLst>
          </p:cNvPr>
          <p:cNvSpPr>
            <a:spLocks noGrp="1"/>
          </p:cNvSpPr>
          <p:nvPr>
            <p:ph type="body" idx="1"/>
          </p:nvPr>
        </p:nvSpPr>
        <p:spPr>
          <a:xfrm>
            <a:off x="658747" y="1780260"/>
            <a:ext cx="10077385" cy="3442578"/>
          </a:xfrm>
        </p:spPr>
        <p:txBody>
          <a:bodyPr>
            <a:normAutofit/>
          </a:bodyPr>
          <a:lstStyle/>
          <a:p>
            <a:r>
              <a:rPr lang="en-US" sz="1600" b="1" i="0" dirty="0">
                <a:solidFill>
                  <a:schemeClr val="bg2">
                    <a:lumMod val="50000"/>
                  </a:schemeClr>
                </a:solidFill>
                <a:effectLst/>
                <a:latin typeface="Aptos Serif" panose="02020604070405020304" pitchFamily="18" charset="0"/>
                <a:cs typeface="Aptos Serif" panose="02020604070405020304" pitchFamily="18" charset="0"/>
              </a:rPr>
              <a:t>A SIEM/EDR is only as good as the data you feed it</a:t>
            </a:r>
          </a:p>
          <a:p>
            <a:pPr marL="114300" indent="0">
              <a:buNone/>
            </a:pPr>
            <a:endParaRPr lang="en-US" sz="1600" b="1" i="0" dirty="0">
              <a:solidFill>
                <a:schemeClr val="bg2">
                  <a:lumMod val="50000"/>
                </a:schemeClr>
              </a:solidFill>
              <a:effectLst/>
              <a:latin typeface="Aptos Serif" panose="02020604070405020304" pitchFamily="18" charset="0"/>
              <a:cs typeface="Aptos Serif" panose="02020604070405020304" pitchFamily="18" charset="0"/>
            </a:endParaRPr>
          </a:p>
          <a:p>
            <a:r>
              <a:rPr lang="en-US" sz="1600" b="1" i="0" dirty="0">
                <a:solidFill>
                  <a:schemeClr val="bg2">
                    <a:lumMod val="50000"/>
                  </a:schemeClr>
                </a:solidFill>
                <a:effectLst/>
                <a:latin typeface="Aptos Serif" panose="02020604070405020304" pitchFamily="18" charset="0"/>
                <a:cs typeface="Aptos Serif" panose="02020604070405020304" pitchFamily="18" charset="0"/>
              </a:rPr>
              <a:t>A SIEM/EDR requires use case implementation</a:t>
            </a:r>
          </a:p>
          <a:p>
            <a:pPr marL="114300" indent="0">
              <a:buNone/>
            </a:pPr>
            <a:endParaRPr lang="en-US" sz="1600" b="1" i="0" dirty="0">
              <a:solidFill>
                <a:schemeClr val="bg2">
                  <a:lumMod val="50000"/>
                </a:schemeClr>
              </a:solidFill>
              <a:effectLst/>
              <a:latin typeface="Aptos Serif" panose="02020604070405020304" pitchFamily="18" charset="0"/>
              <a:cs typeface="Aptos Serif" panose="02020604070405020304" pitchFamily="18" charset="0"/>
            </a:endParaRPr>
          </a:p>
          <a:p>
            <a:r>
              <a:rPr lang="en-US" sz="1600" b="1" i="0" dirty="0">
                <a:solidFill>
                  <a:schemeClr val="bg2">
                    <a:lumMod val="50000"/>
                  </a:schemeClr>
                </a:solidFill>
                <a:effectLst/>
                <a:latin typeface="Aptos Serif" panose="02020604070405020304" pitchFamily="18" charset="0"/>
                <a:cs typeface="Aptos Serif" panose="02020604070405020304" pitchFamily="18" charset="0"/>
              </a:rPr>
              <a:t>More data does not mean better detection</a:t>
            </a:r>
          </a:p>
          <a:p>
            <a:pPr marL="114300" indent="0">
              <a:buNone/>
            </a:pPr>
            <a:endParaRPr lang="en-US" sz="1600" b="1" i="0" dirty="0">
              <a:solidFill>
                <a:schemeClr val="bg2">
                  <a:lumMod val="50000"/>
                </a:schemeClr>
              </a:solidFill>
              <a:effectLst/>
              <a:latin typeface="Aptos Serif" panose="02020604070405020304" pitchFamily="18" charset="0"/>
              <a:cs typeface="Aptos Serif" panose="02020604070405020304" pitchFamily="18" charset="0"/>
            </a:endParaRPr>
          </a:p>
          <a:p>
            <a:r>
              <a:rPr lang="en-US" sz="1600" b="1" i="0" dirty="0">
                <a:solidFill>
                  <a:schemeClr val="bg2">
                    <a:lumMod val="50000"/>
                  </a:schemeClr>
                </a:solidFill>
                <a:effectLst/>
                <a:latin typeface="Aptos Serif" panose="02020604070405020304" pitchFamily="18" charset="0"/>
                <a:cs typeface="Aptos Serif" panose="02020604070405020304" pitchFamily="18" charset="0"/>
              </a:rPr>
              <a:t>Lack of context</a:t>
            </a:r>
          </a:p>
          <a:p>
            <a:endParaRPr lang="en-US" sz="1600" dirty="0"/>
          </a:p>
        </p:txBody>
      </p:sp>
      <p:pic>
        <p:nvPicPr>
          <p:cNvPr id="4100" name="Picture 4" descr="SIEM Issues: Too much data">
            <a:extLst>
              <a:ext uri="{FF2B5EF4-FFF2-40B4-BE49-F238E27FC236}">
                <a16:creationId xmlns:a16="http://schemas.microsoft.com/office/drawing/2014/main" id="{AAF3CF52-B1CF-CA7C-284E-8DC83CE1E8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2744" y="394359"/>
            <a:ext cx="1276635" cy="1216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214363"/>
      </p:ext>
    </p:extLst>
  </p:cSld>
  <p:clrMapOvr>
    <a:masterClrMapping/>
  </p:clrMapOvr>
  <mc:AlternateContent xmlns:mc="http://schemas.openxmlformats.org/markup-compatibility/2006" xmlns:p14="http://schemas.microsoft.com/office/powerpoint/2010/main">
    <mc:Choice Requires="p14">
      <p:transition spd="slow" p14:dur="2000" advTm="62506"/>
    </mc:Choice>
    <mc:Fallback xmlns="">
      <p:transition spd="slow" advTm="6250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27a48adc459_0_39"/>
          <p:cNvSpPr txBox="1">
            <a:spLocks noGrp="1"/>
          </p:cNvSpPr>
          <p:nvPr>
            <p:ph type="body" idx="1"/>
          </p:nvPr>
        </p:nvSpPr>
        <p:spPr>
          <a:xfrm>
            <a:off x="472440" y="1524543"/>
            <a:ext cx="11430000" cy="4752544"/>
          </a:xfrm>
          <a:prstGeom prst="rect">
            <a:avLst/>
          </a:prstGeom>
        </p:spPr>
        <p:txBody>
          <a:bodyPr spcFirstLastPara="1" wrap="square" lIns="91425" tIns="45700" rIns="91425" bIns="45700" anchor="t" anchorCtr="0">
            <a:normAutofit/>
          </a:bodyPr>
          <a:lstStyle/>
          <a:p>
            <a:pPr marL="457200" lvl="0" indent="0" algn="l" rtl="0">
              <a:lnSpc>
                <a:spcPct val="144444"/>
              </a:lnSpc>
              <a:spcBef>
                <a:spcPts val="3800"/>
              </a:spcBef>
              <a:spcAft>
                <a:spcPts val="0"/>
              </a:spcAft>
              <a:buNone/>
            </a:pPr>
            <a:r>
              <a:rPr lang="en-US" sz="1600" b="1" dirty="0">
                <a:solidFill>
                  <a:srgbClr val="141414"/>
                </a:solidFill>
                <a:latin typeface="Aptos Serif" panose="02020604070405020304" pitchFamily="18" charset="0"/>
                <a:ea typeface="Times New Roman"/>
                <a:cs typeface="Aptos Serif" panose="02020604070405020304" pitchFamily="18" charset="0"/>
                <a:sym typeface="Times New Roman"/>
              </a:rPr>
              <a:t>The project is divided into three parts :</a:t>
            </a:r>
          </a:p>
          <a:p>
            <a:pPr marL="457200" lvl="0" indent="0" algn="l" rtl="0">
              <a:lnSpc>
                <a:spcPct val="144444"/>
              </a:lnSpc>
              <a:spcBef>
                <a:spcPts val="3800"/>
              </a:spcBef>
              <a:spcAft>
                <a:spcPts val="0"/>
              </a:spcAft>
              <a:buNone/>
            </a:pPr>
            <a:r>
              <a:rPr lang="en-US" sz="1600" b="1" dirty="0">
                <a:solidFill>
                  <a:srgbClr val="141414"/>
                </a:solidFill>
                <a:latin typeface="Aptos Serif" panose="02020604070405020304" pitchFamily="18" charset="0"/>
                <a:ea typeface="Times New Roman"/>
                <a:cs typeface="Aptos Serif" panose="02020604070405020304" pitchFamily="18" charset="0"/>
                <a:sym typeface="Times New Roman"/>
              </a:rPr>
              <a:t>		                      </a:t>
            </a:r>
            <a:r>
              <a:rPr lang="en-US" sz="1600" b="1" dirty="0">
                <a:solidFill>
                  <a:srgbClr val="141414"/>
                </a:solidFill>
                <a:highlight>
                  <a:srgbClr val="FFFF00"/>
                </a:highlight>
                <a:latin typeface="Aptos Serif" panose="02020604070405020304" pitchFamily="18" charset="0"/>
                <a:ea typeface="Times New Roman"/>
                <a:cs typeface="Aptos Serif" panose="02020604070405020304" pitchFamily="18" charset="0"/>
                <a:sym typeface="Times New Roman"/>
              </a:rPr>
              <a:t>Testing – Detection Rules – Development of Tool</a:t>
            </a:r>
            <a:endParaRPr sz="1600" b="1" dirty="0">
              <a:solidFill>
                <a:srgbClr val="141414"/>
              </a:solidFill>
              <a:highlight>
                <a:srgbClr val="FFFF00"/>
              </a:highlight>
              <a:latin typeface="Aptos Serif" panose="02020604070405020304" pitchFamily="18" charset="0"/>
              <a:ea typeface="Times New Roman"/>
              <a:cs typeface="Aptos Serif" panose="02020604070405020304" pitchFamily="18" charset="0"/>
              <a:sym typeface="Times New Roman"/>
            </a:endParaRPr>
          </a:p>
          <a:p>
            <a:pPr marL="0" lvl="0" indent="0" algn="l" rtl="0">
              <a:spcBef>
                <a:spcPts val="2300"/>
              </a:spcBef>
              <a:spcAft>
                <a:spcPts val="0"/>
              </a:spcAft>
              <a:buNone/>
            </a:pPr>
            <a:endParaRPr lang="en-US" sz="1500" b="1" dirty="0">
              <a:highlight>
                <a:srgbClr val="FFFF00"/>
              </a:highlight>
              <a:latin typeface="Aptos Serif" panose="02020604070405020304" pitchFamily="18" charset="0"/>
              <a:ea typeface="Times New Roman"/>
              <a:cs typeface="Aptos Serif" panose="02020604070405020304" pitchFamily="18" charset="0"/>
              <a:sym typeface="Times New Roman"/>
            </a:endParaRPr>
          </a:p>
          <a:p>
            <a:pPr marL="0" lvl="0" indent="0" algn="l" rtl="0">
              <a:spcBef>
                <a:spcPts val="2300"/>
              </a:spcBef>
              <a:spcAft>
                <a:spcPts val="0"/>
              </a:spcAft>
              <a:buNone/>
            </a:pPr>
            <a:endParaRPr sz="1500" b="1" dirty="0">
              <a:latin typeface="Aptos Serif" panose="02020604070405020304" pitchFamily="18" charset="0"/>
              <a:ea typeface="Times New Roman"/>
              <a:cs typeface="Aptos Serif" panose="02020604070405020304" pitchFamily="18" charset="0"/>
              <a:sym typeface="Times New Roman"/>
            </a:endParaRPr>
          </a:p>
        </p:txBody>
      </p:sp>
      <p:sp>
        <p:nvSpPr>
          <p:cNvPr id="93" name="Google Shape;93;g27a48adc459_0_39"/>
          <p:cNvSpPr txBox="1">
            <a:spLocks noGrp="1"/>
          </p:cNvSpPr>
          <p:nvPr>
            <p:ph type="title"/>
          </p:nvPr>
        </p:nvSpPr>
        <p:spPr>
          <a:xfrm>
            <a:off x="381000" y="212247"/>
            <a:ext cx="11430000" cy="1363368"/>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Aptos Serif" panose="02020604070405020304" pitchFamily="18" charset="0"/>
                <a:cs typeface="Aptos Serif" panose="02020604070405020304" pitchFamily="18" charset="0"/>
              </a:rPr>
              <a:t>Extraction of Artifacts – Potential </a:t>
            </a:r>
            <a:r>
              <a:rPr lang="en-US" dirty="0" err="1">
                <a:latin typeface="Aptos Serif" panose="02020604070405020304" pitchFamily="18" charset="0"/>
                <a:cs typeface="Aptos Serif" panose="02020604070405020304" pitchFamily="18" charset="0"/>
              </a:rPr>
              <a:t>IoCs</a:t>
            </a:r>
            <a:r>
              <a:rPr lang="en-US" dirty="0">
                <a:latin typeface="Aptos Serif" panose="02020604070405020304" pitchFamily="18" charset="0"/>
                <a:cs typeface="Aptos Serif" panose="02020604070405020304" pitchFamily="18" charset="0"/>
              </a:rPr>
              <a:t> – Plugins – Better Threat Intel Feed </a:t>
            </a:r>
            <a:endParaRPr dirty="0">
              <a:latin typeface="Aptos Serif" panose="02020604070405020304" pitchFamily="18" charset="0"/>
              <a:cs typeface="Aptos Serif" panose="02020604070405020304" pitchFamily="18" charset="0"/>
            </a:endParaRPr>
          </a:p>
        </p:txBody>
      </p:sp>
      <p:sp>
        <p:nvSpPr>
          <p:cNvPr id="3" name="TextBox 2">
            <a:extLst>
              <a:ext uri="{FF2B5EF4-FFF2-40B4-BE49-F238E27FC236}">
                <a16:creationId xmlns:a16="http://schemas.microsoft.com/office/drawing/2014/main" id="{05DBC0BD-6C53-6C09-64F3-61FEB494B101}"/>
              </a:ext>
            </a:extLst>
          </p:cNvPr>
          <p:cNvSpPr txBox="1"/>
          <p:nvPr/>
        </p:nvSpPr>
        <p:spPr>
          <a:xfrm>
            <a:off x="989702" y="3793429"/>
            <a:ext cx="10596283" cy="2308324"/>
          </a:xfrm>
          <a:prstGeom prst="rect">
            <a:avLst/>
          </a:prstGeom>
          <a:noFill/>
        </p:spPr>
        <p:txBody>
          <a:bodyPr wrap="square">
            <a:spAutoFit/>
          </a:bodyPr>
          <a:lstStyle/>
          <a:p>
            <a:pPr algn="l">
              <a:buFont typeface="Arial" panose="020B0604020202020204" pitchFamily="34" charset="0"/>
              <a:buChar char="•"/>
            </a:pPr>
            <a:r>
              <a:rPr lang="en-US" sz="1600" b="1" i="0" dirty="0">
                <a:solidFill>
                  <a:schemeClr val="bg2">
                    <a:lumMod val="50000"/>
                  </a:schemeClr>
                </a:solidFill>
                <a:effectLst/>
                <a:latin typeface="Aptos Serif" panose="02020604070405020304" pitchFamily="18" charset="0"/>
                <a:cs typeface="Aptos Serif" panose="02020604070405020304" pitchFamily="18" charset="0"/>
              </a:rPr>
              <a:t>Which directory does it normally execute from?</a:t>
            </a:r>
          </a:p>
          <a:p>
            <a:pPr algn="l"/>
            <a:endParaRPr lang="en-US" sz="1600" b="1" i="0" dirty="0">
              <a:solidFill>
                <a:schemeClr val="bg2">
                  <a:lumMod val="50000"/>
                </a:schemeClr>
              </a:solidFill>
              <a:effectLst/>
              <a:latin typeface="Aptos Serif" panose="02020604070405020304" pitchFamily="18" charset="0"/>
              <a:cs typeface="Aptos Serif" panose="02020604070405020304" pitchFamily="18" charset="0"/>
            </a:endParaRPr>
          </a:p>
          <a:p>
            <a:pPr algn="l">
              <a:buFont typeface="Arial" panose="020B0604020202020204" pitchFamily="34" charset="0"/>
              <a:buChar char="•"/>
            </a:pPr>
            <a:r>
              <a:rPr lang="en-US" sz="1600" b="1" i="0" dirty="0">
                <a:solidFill>
                  <a:schemeClr val="bg2">
                    <a:lumMod val="50000"/>
                  </a:schemeClr>
                </a:solidFill>
                <a:effectLst/>
                <a:latin typeface="Aptos Serif" panose="02020604070405020304" pitchFamily="18" charset="0"/>
                <a:cs typeface="Aptos Serif" panose="02020604070405020304" pitchFamily="18" charset="0"/>
              </a:rPr>
              <a:t>Where does it normally establish connections to?</a:t>
            </a:r>
          </a:p>
          <a:p>
            <a:pPr algn="l"/>
            <a:endParaRPr lang="en-US" sz="1600" b="1" i="0" dirty="0">
              <a:solidFill>
                <a:schemeClr val="bg2">
                  <a:lumMod val="50000"/>
                </a:schemeClr>
              </a:solidFill>
              <a:effectLst/>
              <a:latin typeface="Aptos Serif" panose="02020604070405020304" pitchFamily="18" charset="0"/>
              <a:cs typeface="Aptos Serif" panose="02020604070405020304" pitchFamily="18" charset="0"/>
            </a:endParaRPr>
          </a:p>
          <a:p>
            <a:pPr algn="l">
              <a:buFont typeface="Arial" panose="020B0604020202020204" pitchFamily="34" charset="0"/>
              <a:buChar char="•"/>
            </a:pPr>
            <a:r>
              <a:rPr lang="en-US" sz="1600" b="1" i="0" dirty="0">
                <a:solidFill>
                  <a:schemeClr val="bg2">
                    <a:lumMod val="50000"/>
                  </a:schemeClr>
                </a:solidFill>
                <a:effectLst/>
                <a:latin typeface="Aptos Serif" panose="02020604070405020304" pitchFamily="18" charset="0"/>
                <a:cs typeface="Aptos Serif" panose="02020604070405020304" pitchFamily="18" charset="0"/>
              </a:rPr>
              <a:t>What do these tools typically write to the filesystem?</a:t>
            </a:r>
          </a:p>
          <a:p>
            <a:pPr algn="l"/>
            <a:endParaRPr lang="en-US" sz="1600" b="1" i="0" dirty="0">
              <a:solidFill>
                <a:schemeClr val="bg2">
                  <a:lumMod val="50000"/>
                </a:schemeClr>
              </a:solidFill>
              <a:effectLst/>
              <a:latin typeface="Aptos Serif" panose="02020604070405020304" pitchFamily="18" charset="0"/>
              <a:cs typeface="Aptos Serif" panose="02020604070405020304" pitchFamily="18" charset="0"/>
            </a:endParaRPr>
          </a:p>
          <a:p>
            <a:pPr algn="l">
              <a:buFont typeface="Arial" panose="020B0604020202020204" pitchFamily="34" charset="0"/>
              <a:buChar char="•"/>
            </a:pPr>
            <a:r>
              <a:rPr lang="en-US" sz="1600" b="1" i="0" dirty="0">
                <a:solidFill>
                  <a:schemeClr val="bg2">
                    <a:lumMod val="50000"/>
                  </a:schemeClr>
                </a:solidFill>
                <a:effectLst/>
                <a:latin typeface="Aptos Serif" panose="02020604070405020304" pitchFamily="18" charset="0"/>
                <a:cs typeface="Aptos Serif" panose="02020604070405020304" pitchFamily="18" charset="0"/>
              </a:rPr>
              <a:t>Should I expect child processes?</a:t>
            </a:r>
          </a:p>
          <a:p>
            <a:pPr algn="l"/>
            <a:endParaRPr lang="en-US" sz="1600" b="1" i="0" dirty="0">
              <a:solidFill>
                <a:schemeClr val="bg2">
                  <a:lumMod val="50000"/>
                </a:schemeClr>
              </a:solidFill>
              <a:effectLst/>
              <a:latin typeface="Aptos Serif" panose="02020604070405020304" pitchFamily="18" charset="0"/>
              <a:cs typeface="Aptos Serif" panose="02020604070405020304" pitchFamily="18" charset="0"/>
            </a:endParaRPr>
          </a:p>
          <a:p>
            <a:pPr algn="l">
              <a:buFont typeface="Arial" panose="020B0604020202020204" pitchFamily="34" charset="0"/>
              <a:buChar char="•"/>
            </a:pPr>
            <a:r>
              <a:rPr lang="en-US" sz="1600" b="1" i="0" dirty="0">
                <a:solidFill>
                  <a:schemeClr val="bg2">
                    <a:lumMod val="50000"/>
                  </a:schemeClr>
                </a:solidFill>
                <a:effectLst/>
                <a:latin typeface="Aptos Serif" panose="02020604070405020304" pitchFamily="18" charset="0"/>
                <a:cs typeface="Aptos Serif" panose="02020604070405020304" pitchFamily="18" charset="0"/>
              </a:rPr>
              <a:t>Is this software approved in environment?</a:t>
            </a:r>
          </a:p>
        </p:txBody>
      </p:sp>
    </p:spTree>
    <p:extLst>
      <p:ext uri="{BB962C8B-B14F-4D97-AF65-F5344CB8AC3E}">
        <p14:creationId xmlns:p14="http://schemas.microsoft.com/office/powerpoint/2010/main" val="1534869955"/>
      </p:ext>
    </p:extLst>
  </p:cSld>
  <p:clrMapOvr>
    <a:masterClrMapping/>
  </p:clrMapOvr>
  <mc:AlternateContent xmlns:mc="http://schemas.openxmlformats.org/markup-compatibility/2006" xmlns:p14="http://schemas.microsoft.com/office/powerpoint/2010/main">
    <mc:Choice Requires="p14">
      <p:transition spd="slow" p14:dur="2000" advTm="43533"/>
    </mc:Choice>
    <mc:Fallback xmlns="">
      <p:transition spd="slow" advTm="4353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27a48adc459_0_39"/>
          <p:cNvSpPr txBox="1">
            <a:spLocks noGrp="1"/>
          </p:cNvSpPr>
          <p:nvPr>
            <p:ph type="body" idx="1"/>
          </p:nvPr>
        </p:nvSpPr>
        <p:spPr>
          <a:xfrm>
            <a:off x="6488609" y="805757"/>
            <a:ext cx="5287383" cy="3657213"/>
          </a:xfrm>
          <a:prstGeom prst="rect">
            <a:avLst/>
          </a:prstGeom>
        </p:spPr>
        <p:txBody>
          <a:bodyPr spcFirstLastPara="1" wrap="square" lIns="91425" tIns="45700" rIns="91425" bIns="45700" anchor="t" anchorCtr="0">
            <a:noAutofit/>
          </a:bodyPr>
          <a:lstStyle/>
          <a:p>
            <a:pPr marL="0" lvl="0" indent="0" algn="l" rtl="0">
              <a:spcBef>
                <a:spcPts val="2300"/>
              </a:spcBef>
              <a:spcAft>
                <a:spcPts val="0"/>
              </a:spcAft>
              <a:buNone/>
            </a:pPr>
            <a:r>
              <a:rPr lang="en-US" sz="2000" b="1" dirty="0">
                <a:latin typeface="Aptos Serif" panose="02020604070405020304" pitchFamily="18" charset="0"/>
                <a:ea typeface="Times New Roman"/>
                <a:cs typeface="Aptos Serif" panose="02020604070405020304" pitchFamily="18" charset="0"/>
                <a:sym typeface="Times New Roman"/>
              </a:rPr>
              <a:t>- Recent (2023)Threat Intel Reports from CISA , Red Canary, </a:t>
            </a:r>
            <a:r>
              <a:rPr lang="en-US" sz="2000" b="1" dirty="0" err="1">
                <a:latin typeface="Aptos Serif" panose="02020604070405020304" pitchFamily="18" charset="0"/>
                <a:ea typeface="Times New Roman"/>
                <a:cs typeface="Aptos Serif" panose="02020604070405020304" pitchFamily="18" charset="0"/>
                <a:sym typeface="Times New Roman"/>
              </a:rPr>
              <a:t>Crowdstrike</a:t>
            </a:r>
            <a:r>
              <a:rPr lang="en-US" sz="2000" b="1" dirty="0">
                <a:latin typeface="Aptos Serif" panose="02020604070405020304" pitchFamily="18" charset="0"/>
                <a:ea typeface="Times New Roman"/>
                <a:cs typeface="Aptos Serif" panose="02020604070405020304" pitchFamily="18" charset="0"/>
                <a:sym typeface="Times New Roman"/>
              </a:rPr>
              <a:t>, Mandiant</a:t>
            </a:r>
          </a:p>
          <a:p>
            <a:pPr marL="0" lvl="0" indent="0" algn="l" rtl="0">
              <a:spcBef>
                <a:spcPts val="2300"/>
              </a:spcBef>
              <a:spcAft>
                <a:spcPts val="0"/>
              </a:spcAft>
              <a:buNone/>
            </a:pPr>
            <a:r>
              <a:rPr lang="en-US" sz="2000" b="1" dirty="0">
                <a:latin typeface="Aptos Serif" panose="02020604070405020304" pitchFamily="18" charset="0"/>
                <a:ea typeface="Times New Roman"/>
                <a:cs typeface="Aptos Serif" panose="02020604070405020304" pitchFamily="18" charset="0"/>
                <a:sym typeface="Times New Roman"/>
              </a:rPr>
              <a:t>- Based on the infamous ransomware cases and popularity amongst threat actors </a:t>
            </a:r>
          </a:p>
          <a:p>
            <a:pPr marL="342900" lvl="0" algn="l" rtl="0">
              <a:spcBef>
                <a:spcPts val="2300"/>
              </a:spcBef>
              <a:spcAft>
                <a:spcPts val="0"/>
              </a:spcAft>
              <a:buAutoNum type="arabicPeriod"/>
            </a:pPr>
            <a:r>
              <a:rPr lang="en-US" sz="2000" b="1" dirty="0" err="1">
                <a:latin typeface="Aptos Serif" panose="02020604070405020304" pitchFamily="18" charset="0"/>
                <a:ea typeface="Times New Roman"/>
                <a:cs typeface="Aptos Serif" panose="02020604070405020304" pitchFamily="18" charset="0"/>
                <a:sym typeface="Times New Roman"/>
              </a:rPr>
              <a:t>ScreenConnect</a:t>
            </a:r>
            <a:endParaRPr lang="en-US" sz="2000" b="1" dirty="0">
              <a:latin typeface="Aptos Serif" panose="02020604070405020304" pitchFamily="18" charset="0"/>
              <a:ea typeface="Times New Roman"/>
              <a:cs typeface="Aptos Serif" panose="02020604070405020304" pitchFamily="18" charset="0"/>
              <a:sym typeface="Times New Roman"/>
            </a:endParaRPr>
          </a:p>
          <a:p>
            <a:pPr marL="342900" lvl="0" algn="l" rtl="0">
              <a:spcBef>
                <a:spcPts val="2300"/>
              </a:spcBef>
              <a:spcAft>
                <a:spcPts val="0"/>
              </a:spcAft>
              <a:buAutoNum type="arabicPeriod"/>
            </a:pPr>
            <a:r>
              <a:rPr lang="en-US" sz="2000" b="1" dirty="0" err="1">
                <a:latin typeface="Aptos Serif" panose="02020604070405020304" pitchFamily="18" charset="0"/>
                <a:ea typeface="Times New Roman"/>
                <a:cs typeface="Aptos Serif" panose="02020604070405020304" pitchFamily="18" charset="0"/>
                <a:sym typeface="Times New Roman"/>
              </a:rPr>
              <a:t>AnyDesk</a:t>
            </a:r>
            <a:endParaRPr lang="en-US" sz="2000" b="1" dirty="0">
              <a:latin typeface="Aptos Serif" panose="02020604070405020304" pitchFamily="18" charset="0"/>
              <a:ea typeface="Times New Roman"/>
              <a:cs typeface="Aptos Serif" panose="02020604070405020304" pitchFamily="18" charset="0"/>
              <a:sym typeface="Times New Roman"/>
            </a:endParaRPr>
          </a:p>
          <a:p>
            <a:pPr marL="342900" lvl="0" algn="l" rtl="0">
              <a:spcBef>
                <a:spcPts val="2300"/>
              </a:spcBef>
              <a:spcAft>
                <a:spcPts val="0"/>
              </a:spcAft>
              <a:buAutoNum type="arabicPeriod"/>
            </a:pPr>
            <a:r>
              <a:rPr lang="en-US" sz="2000" b="1" dirty="0">
                <a:latin typeface="Aptos Serif" panose="02020604070405020304" pitchFamily="18" charset="0"/>
                <a:ea typeface="Times New Roman"/>
                <a:cs typeface="Aptos Serif" panose="02020604070405020304" pitchFamily="18" charset="0"/>
                <a:sym typeface="Times New Roman"/>
              </a:rPr>
              <a:t>TeamViewer</a:t>
            </a:r>
          </a:p>
          <a:p>
            <a:pPr marL="342900" lvl="0" algn="l" rtl="0">
              <a:spcBef>
                <a:spcPts val="2300"/>
              </a:spcBef>
              <a:spcAft>
                <a:spcPts val="0"/>
              </a:spcAft>
              <a:buAutoNum type="arabicPeriod"/>
            </a:pPr>
            <a:r>
              <a:rPr lang="en-US" sz="2000" b="1" dirty="0" err="1">
                <a:latin typeface="Aptos Serif" panose="02020604070405020304" pitchFamily="18" charset="0"/>
                <a:ea typeface="Times New Roman"/>
                <a:cs typeface="Aptos Serif" panose="02020604070405020304" pitchFamily="18" charset="0"/>
                <a:sym typeface="Times New Roman"/>
              </a:rPr>
              <a:t>Atera</a:t>
            </a:r>
            <a:endParaRPr lang="en-US" sz="2000" b="1" dirty="0">
              <a:latin typeface="Aptos Serif" panose="02020604070405020304" pitchFamily="18" charset="0"/>
              <a:ea typeface="Times New Roman"/>
              <a:cs typeface="Aptos Serif" panose="02020604070405020304" pitchFamily="18" charset="0"/>
              <a:sym typeface="Times New Roman"/>
            </a:endParaRPr>
          </a:p>
          <a:p>
            <a:pPr marL="342900" lvl="0" algn="l" rtl="0">
              <a:spcBef>
                <a:spcPts val="2300"/>
              </a:spcBef>
              <a:spcAft>
                <a:spcPts val="0"/>
              </a:spcAft>
              <a:buAutoNum type="arabicPeriod"/>
            </a:pPr>
            <a:r>
              <a:rPr lang="en-US" sz="2000" b="1" dirty="0" err="1">
                <a:latin typeface="Aptos Serif" panose="02020604070405020304" pitchFamily="18" charset="0"/>
                <a:ea typeface="Times New Roman"/>
                <a:cs typeface="Aptos Serif" panose="02020604070405020304" pitchFamily="18" charset="0"/>
                <a:sym typeface="Times New Roman"/>
              </a:rPr>
              <a:t>NetSupport</a:t>
            </a:r>
            <a:r>
              <a:rPr lang="en-US" sz="2000" b="1" dirty="0">
                <a:latin typeface="Aptos Serif" panose="02020604070405020304" pitchFamily="18" charset="0"/>
                <a:ea typeface="Times New Roman"/>
                <a:cs typeface="Aptos Serif" panose="02020604070405020304" pitchFamily="18" charset="0"/>
                <a:sym typeface="Times New Roman"/>
              </a:rPr>
              <a:t>*</a:t>
            </a:r>
          </a:p>
        </p:txBody>
      </p:sp>
      <p:sp>
        <p:nvSpPr>
          <p:cNvPr id="93" name="Google Shape;93;g27a48adc459_0_39"/>
          <p:cNvSpPr txBox="1">
            <a:spLocks noGrp="1"/>
          </p:cNvSpPr>
          <p:nvPr>
            <p:ph type="title"/>
          </p:nvPr>
        </p:nvSpPr>
        <p:spPr>
          <a:xfrm>
            <a:off x="476026" y="212246"/>
            <a:ext cx="11430000" cy="788216"/>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Aptos Serif" panose="02020604070405020304" pitchFamily="18" charset="0"/>
                <a:cs typeface="Aptos Serif" panose="02020604070405020304" pitchFamily="18" charset="0"/>
              </a:rPr>
              <a:t>Selection of Applications </a:t>
            </a:r>
            <a:endParaRPr dirty="0">
              <a:latin typeface="Aptos Serif" panose="02020604070405020304" pitchFamily="18" charset="0"/>
              <a:cs typeface="Aptos Serif" panose="02020604070405020304" pitchFamily="18" charset="0"/>
            </a:endParaRPr>
          </a:p>
        </p:txBody>
      </p:sp>
      <p:pic>
        <p:nvPicPr>
          <p:cNvPr id="3" name="Picture 2" descr="A black and white triangle with text">
            <a:extLst>
              <a:ext uri="{FF2B5EF4-FFF2-40B4-BE49-F238E27FC236}">
                <a16:creationId xmlns:a16="http://schemas.microsoft.com/office/drawing/2014/main" id="{A26F5756-49BF-F0F8-DD46-D03E39BCD3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070" y="1100436"/>
            <a:ext cx="4934220" cy="3696204"/>
          </a:xfrm>
          <a:prstGeom prst="rect">
            <a:avLst/>
          </a:prstGeom>
        </p:spPr>
      </p:pic>
      <p:pic>
        <p:nvPicPr>
          <p:cNvPr id="5" name="Picture 4">
            <a:extLst>
              <a:ext uri="{FF2B5EF4-FFF2-40B4-BE49-F238E27FC236}">
                <a16:creationId xmlns:a16="http://schemas.microsoft.com/office/drawing/2014/main" id="{25425EFD-AE46-BF53-6395-2097C4162318}"/>
              </a:ext>
            </a:extLst>
          </p:cNvPr>
          <p:cNvPicPr>
            <a:picLocks noChangeAspect="1"/>
          </p:cNvPicPr>
          <p:nvPr/>
        </p:nvPicPr>
        <p:blipFill>
          <a:blip r:embed="rId4"/>
          <a:stretch>
            <a:fillRect/>
          </a:stretch>
        </p:blipFill>
        <p:spPr>
          <a:xfrm>
            <a:off x="1244458" y="5125228"/>
            <a:ext cx="4638832" cy="1421578"/>
          </a:xfrm>
          <a:prstGeom prst="rect">
            <a:avLst/>
          </a:prstGeom>
        </p:spPr>
      </p:pic>
    </p:spTree>
    <p:extLst>
      <p:ext uri="{BB962C8B-B14F-4D97-AF65-F5344CB8AC3E}">
        <p14:creationId xmlns:p14="http://schemas.microsoft.com/office/powerpoint/2010/main" val="2358234252"/>
      </p:ext>
    </p:extLst>
  </p:cSld>
  <p:clrMapOvr>
    <a:masterClrMapping/>
  </p:clrMapOvr>
  <mc:AlternateContent xmlns:mc="http://schemas.openxmlformats.org/markup-compatibility/2006" xmlns:p14="http://schemas.microsoft.com/office/powerpoint/2010/main">
    <mc:Choice Requires="p14">
      <p:transition spd="slow" p14:dur="2000" advTm="20248"/>
    </mc:Choice>
    <mc:Fallback xmlns="">
      <p:transition spd="slow" advTm="2024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1CE282-4ACC-D421-9F23-EE4B0AC8034B}"/>
              </a:ext>
            </a:extLst>
          </p:cNvPr>
          <p:cNvSpPr>
            <a:spLocks noGrp="1"/>
          </p:cNvSpPr>
          <p:nvPr>
            <p:ph type="body" idx="1"/>
          </p:nvPr>
        </p:nvSpPr>
        <p:spPr>
          <a:xfrm>
            <a:off x="478367" y="666754"/>
            <a:ext cx="5617633" cy="823912"/>
          </a:xfrm>
        </p:spPr>
        <p:txBody>
          <a:bodyPr/>
          <a:lstStyle/>
          <a:p>
            <a:r>
              <a:rPr lang="en-US" dirty="0"/>
              <a:t>Tools</a:t>
            </a:r>
          </a:p>
        </p:txBody>
      </p:sp>
      <p:sp>
        <p:nvSpPr>
          <p:cNvPr id="6" name="Title 5">
            <a:extLst>
              <a:ext uri="{FF2B5EF4-FFF2-40B4-BE49-F238E27FC236}">
                <a16:creationId xmlns:a16="http://schemas.microsoft.com/office/drawing/2014/main" id="{F2D18DBC-0EA7-03AF-9A1E-5B5334944D22}"/>
              </a:ext>
            </a:extLst>
          </p:cNvPr>
          <p:cNvSpPr>
            <a:spLocks noGrp="1"/>
          </p:cNvSpPr>
          <p:nvPr>
            <p:ph type="title"/>
          </p:nvPr>
        </p:nvSpPr>
        <p:spPr/>
        <p:txBody>
          <a:bodyPr>
            <a:normAutofit/>
          </a:bodyPr>
          <a:lstStyle/>
          <a:p>
            <a:r>
              <a:rPr lang="en-US" dirty="0">
                <a:latin typeface="Aptos Serif" panose="02020604070405020304" pitchFamily="18" charset="0"/>
                <a:cs typeface="Aptos Serif" panose="02020604070405020304" pitchFamily="18" charset="0"/>
              </a:rPr>
              <a:t>Testing</a:t>
            </a:r>
          </a:p>
        </p:txBody>
      </p:sp>
      <p:pic>
        <p:nvPicPr>
          <p:cNvPr id="1028" name="Picture 4" descr="AccessData Forensic ToolKit">
            <a:extLst>
              <a:ext uri="{FF2B5EF4-FFF2-40B4-BE49-F238E27FC236}">
                <a16:creationId xmlns:a16="http://schemas.microsoft.com/office/drawing/2014/main" id="{2D8A892A-473A-8927-3303-B763B8242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3300" y="1556018"/>
            <a:ext cx="1688949" cy="131243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alysis of Data Source Using Autopsy - GeeksforGeeks">
            <a:extLst>
              <a:ext uri="{FF2B5EF4-FFF2-40B4-BE49-F238E27FC236}">
                <a16:creationId xmlns:a16="http://schemas.microsoft.com/office/drawing/2014/main" id="{1F35B9AB-C453-543A-7386-D92F603E7B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3096" y="1376945"/>
            <a:ext cx="2335826" cy="156618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4n6 Quick! #01 -Windows Users list &amp; Login Count – Boncaldo's Forensics Blog">
            <a:extLst>
              <a:ext uri="{FF2B5EF4-FFF2-40B4-BE49-F238E27FC236}">
                <a16:creationId xmlns:a16="http://schemas.microsoft.com/office/drawing/2014/main" id="{C56387AB-81FB-603B-3629-67C2777CA8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5842" y="3164208"/>
            <a:ext cx="1763807" cy="131243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TRE ATTACK. Mitre attack is a knowledge base that… | by Imam Habeeb |  Medium">
            <a:extLst>
              <a:ext uri="{FF2B5EF4-FFF2-40B4-BE49-F238E27FC236}">
                <a16:creationId xmlns:a16="http://schemas.microsoft.com/office/drawing/2014/main" id="{7964E41D-0912-DA57-4904-8E42A96B1E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9327" y="3321238"/>
            <a:ext cx="1951626" cy="90550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GitHub - williballenthin/shellbags: Cross-platform, open-source shellbag  parser">
            <a:extLst>
              <a:ext uri="{FF2B5EF4-FFF2-40B4-BE49-F238E27FC236}">
                <a16:creationId xmlns:a16="http://schemas.microsoft.com/office/drawing/2014/main" id="{733D8141-3C55-198B-E039-73AF815177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0416" y="4907916"/>
            <a:ext cx="1963748" cy="98187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mage">
            <a:extLst>
              <a:ext uri="{FF2B5EF4-FFF2-40B4-BE49-F238E27FC236}">
                <a16:creationId xmlns:a16="http://schemas.microsoft.com/office/drawing/2014/main" id="{3EBE3D3F-C779-1872-F321-EC6FF52583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71915" y="3429000"/>
            <a:ext cx="3102584" cy="226505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0A21D664-0791-4701-3C0E-D373A3F8982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8111" y="4679526"/>
            <a:ext cx="1294058" cy="1294058"/>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Z Tools | SANS Institute">
            <a:extLst>
              <a:ext uri="{FF2B5EF4-FFF2-40B4-BE49-F238E27FC236}">
                <a16:creationId xmlns:a16="http://schemas.microsoft.com/office/drawing/2014/main" id="{A94E576B-67FB-637D-3B0B-B36911DDAD3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11183" y="1630692"/>
            <a:ext cx="1780390" cy="1312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95418"/>
      </p:ext>
    </p:extLst>
  </p:cSld>
  <p:clrMapOvr>
    <a:masterClrMapping/>
  </p:clrMapOvr>
  <mc:AlternateContent xmlns:mc="http://schemas.openxmlformats.org/markup-compatibility/2006" xmlns:p14="http://schemas.microsoft.com/office/powerpoint/2010/main">
    <mc:Choice Requires="p14">
      <p:transition spd="slow" p14:dur="2000" advTm="50516"/>
    </mc:Choice>
    <mc:Fallback xmlns="">
      <p:transition spd="slow" advTm="5051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27a48adc459_0_39"/>
          <p:cNvSpPr txBox="1">
            <a:spLocks noGrp="1"/>
          </p:cNvSpPr>
          <p:nvPr>
            <p:ph type="body" idx="1"/>
          </p:nvPr>
        </p:nvSpPr>
        <p:spPr>
          <a:xfrm>
            <a:off x="381000" y="1056585"/>
            <a:ext cx="11430000" cy="4225800"/>
          </a:xfrm>
          <a:prstGeom prst="rect">
            <a:avLst/>
          </a:prstGeom>
        </p:spPr>
        <p:txBody>
          <a:bodyPr spcFirstLastPara="1" wrap="square" lIns="91425" tIns="45700" rIns="91425" bIns="45700" anchor="t" anchorCtr="0">
            <a:noAutofit/>
          </a:bodyPr>
          <a:lstStyle/>
          <a:p>
            <a:pPr marL="0" lvl="0" indent="0" algn="l" rtl="0">
              <a:spcBef>
                <a:spcPts val="2300"/>
              </a:spcBef>
              <a:spcAft>
                <a:spcPts val="0"/>
              </a:spcAft>
              <a:buNone/>
            </a:pPr>
            <a:r>
              <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rPr>
              <a:t>1. Same Network</a:t>
            </a:r>
          </a:p>
          <a:p>
            <a:pPr marL="0" lvl="0" indent="0" algn="l" rtl="0">
              <a:spcBef>
                <a:spcPts val="2300"/>
              </a:spcBef>
              <a:spcAft>
                <a:spcPts val="0"/>
              </a:spcAft>
              <a:buNone/>
            </a:pPr>
            <a:r>
              <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rPr>
              <a:t>	- </a:t>
            </a:r>
            <a:r>
              <a:rPr lang="en-US" sz="2000" b="0" i="0" dirty="0">
                <a:solidFill>
                  <a:schemeClr val="accent1">
                    <a:lumMod val="50000"/>
                  </a:schemeClr>
                </a:solidFill>
                <a:effectLst/>
                <a:latin typeface="Aptos Serif" panose="02020604070405020304" pitchFamily="18" charset="0"/>
                <a:cs typeface="Aptos Serif" panose="02020604070405020304" pitchFamily="18" charset="0"/>
              </a:rPr>
              <a:t>Artifact collection in this context can uncover potential vulnerabilities or behaviors that only manifest when the application assumes it is operating in a trusted environment.</a:t>
            </a:r>
            <a:endPar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endParaRPr>
          </a:p>
          <a:p>
            <a:pPr marL="228600" lvl="0" indent="-228600" algn="l" rtl="0">
              <a:spcBef>
                <a:spcPts val="2300"/>
              </a:spcBef>
              <a:spcAft>
                <a:spcPts val="0"/>
              </a:spcAft>
              <a:buAutoNum type="arabicPeriod" startAt="2"/>
            </a:pPr>
            <a:r>
              <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rPr>
              <a:t>Different Network</a:t>
            </a:r>
          </a:p>
          <a:p>
            <a:pPr marL="0" lvl="0" indent="0" algn="l" rtl="0">
              <a:spcBef>
                <a:spcPts val="2300"/>
              </a:spcBef>
              <a:spcAft>
                <a:spcPts val="0"/>
              </a:spcAft>
              <a:buNone/>
            </a:pPr>
            <a:r>
              <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rPr>
              <a:t>	- </a:t>
            </a:r>
            <a:r>
              <a:rPr lang="en-US" sz="2000" b="0" i="0" dirty="0">
                <a:solidFill>
                  <a:schemeClr val="accent1">
                    <a:lumMod val="50000"/>
                  </a:schemeClr>
                </a:solidFill>
                <a:effectLst/>
                <a:latin typeface="Aptos Serif" panose="02020604070405020304" pitchFamily="18" charset="0"/>
                <a:cs typeface="Aptos Serif" panose="02020604070405020304" pitchFamily="18" charset="0"/>
              </a:rPr>
              <a:t>The discovery of these artifacts is essential for understanding how the application maintains functionality and security when faced with network variability.</a:t>
            </a:r>
            <a:endPar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endParaRPr>
          </a:p>
          <a:p>
            <a:pPr marL="0" lvl="0" indent="0" algn="l" rtl="0">
              <a:spcBef>
                <a:spcPts val="2300"/>
              </a:spcBef>
              <a:spcAft>
                <a:spcPts val="0"/>
              </a:spcAft>
              <a:buNone/>
            </a:pPr>
            <a:r>
              <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rPr>
              <a:t>3. VPN*</a:t>
            </a:r>
          </a:p>
          <a:p>
            <a:pPr marL="0" lvl="0" indent="0" algn="l" rtl="0">
              <a:spcBef>
                <a:spcPts val="2300"/>
              </a:spcBef>
              <a:spcAft>
                <a:spcPts val="0"/>
              </a:spcAft>
              <a:buNone/>
            </a:pPr>
            <a:r>
              <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rPr>
              <a:t>	- </a:t>
            </a:r>
            <a:r>
              <a:rPr lang="en-US" sz="2000" b="0" i="0" dirty="0">
                <a:solidFill>
                  <a:schemeClr val="accent1">
                    <a:lumMod val="50000"/>
                  </a:schemeClr>
                </a:solidFill>
                <a:effectLst/>
                <a:latin typeface="Aptos Serif" panose="02020604070405020304" pitchFamily="18" charset="0"/>
                <a:cs typeface="Aptos Serif" panose="02020604070405020304" pitchFamily="18" charset="0"/>
              </a:rPr>
              <a:t>expose how the application handles secure connections and transfers data across potentially untrusted networks.</a:t>
            </a:r>
            <a:endParaRPr lang="en-US" sz="2000" b="1" dirty="0">
              <a:solidFill>
                <a:schemeClr val="accent1">
                  <a:lumMod val="50000"/>
                </a:schemeClr>
              </a:solidFill>
              <a:latin typeface="Aptos Serif" panose="02020604070405020304" pitchFamily="18" charset="0"/>
              <a:ea typeface="Times New Roman"/>
              <a:cs typeface="Aptos Serif" panose="02020604070405020304" pitchFamily="18" charset="0"/>
              <a:sym typeface="Times New Roman"/>
            </a:endParaRPr>
          </a:p>
        </p:txBody>
      </p:sp>
      <p:sp>
        <p:nvSpPr>
          <p:cNvPr id="93" name="Google Shape;93;g27a48adc459_0_39"/>
          <p:cNvSpPr txBox="1">
            <a:spLocks noGrp="1"/>
          </p:cNvSpPr>
          <p:nvPr>
            <p:ph type="title"/>
          </p:nvPr>
        </p:nvSpPr>
        <p:spPr>
          <a:xfrm>
            <a:off x="381000" y="212247"/>
            <a:ext cx="11430000" cy="101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latin typeface="Aptos Serif" panose="02020604070405020304" pitchFamily="18" charset="0"/>
                <a:cs typeface="Aptos Serif" panose="02020604070405020304" pitchFamily="18" charset="0"/>
              </a:rPr>
              <a:t>Testing Rounds</a:t>
            </a:r>
          </a:p>
        </p:txBody>
      </p:sp>
    </p:spTree>
    <p:extLst>
      <p:ext uri="{BB962C8B-B14F-4D97-AF65-F5344CB8AC3E}">
        <p14:creationId xmlns:p14="http://schemas.microsoft.com/office/powerpoint/2010/main" val="843435863"/>
      </p:ext>
    </p:extLst>
  </p:cSld>
  <p:clrMapOvr>
    <a:masterClrMapping/>
  </p:clrMapOvr>
  <mc:AlternateContent xmlns:mc="http://schemas.openxmlformats.org/markup-compatibility/2006" xmlns:p14="http://schemas.microsoft.com/office/powerpoint/2010/main">
    <mc:Choice Requires="p14">
      <p:transition spd="slow" p14:dur="2000" advTm="30944"/>
    </mc:Choice>
    <mc:Fallback xmlns="">
      <p:transition spd="slow" advTm="3094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g27a48adc459_0_1"/>
          <p:cNvSpPr txBox="1">
            <a:spLocks noGrp="1"/>
          </p:cNvSpPr>
          <p:nvPr>
            <p:ph type="title"/>
          </p:nvPr>
        </p:nvSpPr>
        <p:spPr>
          <a:xfrm>
            <a:off x="381000" y="200722"/>
            <a:ext cx="11430000" cy="1014761"/>
          </a:xfrm>
        </p:spPr>
        <p:txBody>
          <a:bodyPr spcFirstLastPara="1" wrap="square" lIns="91425" tIns="45700" rIns="91425" bIns="45700" anchor="ctr" anchorCtr="0">
            <a:normAutofit/>
          </a:bodyPr>
          <a:lstStyle/>
          <a:p>
            <a:pPr marL="0" lvl="0" indent="0" rtl="0">
              <a:spcBef>
                <a:spcPts val="0"/>
              </a:spcBef>
              <a:spcAft>
                <a:spcPts val="0"/>
              </a:spcAft>
              <a:buNone/>
            </a:pPr>
            <a:r>
              <a:rPr lang="en-US" dirty="0">
                <a:latin typeface="Aptos Serif" panose="02020604070405020304" pitchFamily="18" charset="0"/>
                <a:cs typeface="Aptos Serif" panose="02020604070405020304" pitchFamily="18" charset="0"/>
              </a:rPr>
              <a:t>Backend for the tool - </a:t>
            </a:r>
            <a:r>
              <a:rPr lang="en-US" dirty="0" err="1">
                <a:latin typeface="Aptos Serif" panose="02020604070405020304" pitchFamily="18" charset="0"/>
                <a:cs typeface="Aptos Serif" panose="02020604070405020304" pitchFamily="18" charset="0"/>
              </a:rPr>
              <a:t>WebUI</a:t>
            </a:r>
            <a:endParaRPr lang="en-US" dirty="0">
              <a:latin typeface="Aptos Serif" panose="02020604070405020304" pitchFamily="18" charset="0"/>
              <a:cs typeface="Aptos Serif" panose="02020604070405020304" pitchFamily="18" charset="0"/>
            </a:endParaRPr>
          </a:p>
        </p:txBody>
      </p:sp>
      <p:pic>
        <p:nvPicPr>
          <p:cNvPr id="2" name="demo">
            <a:hlinkClick r:id="" action="ppaction://media"/>
            <a:extLst>
              <a:ext uri="{FF2B5EF4-FFF2-40B4-BE49-F238E27FC236}">
                <a16:creationId xmlns:a16="http://schemas.microsoft.com/office/drawing/2014/main" id="{BAFE6F38-EBBB-E758-7296-0D6FD2F7CA94}"/>
              </a:ext>
            </a:extLst>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1272600" y="1215483"/>
            <a:ext cx="9163721" cy="4494679"/>
          </a:xfrm>
          <a:prstGeom prst="rect">
            <a:avLst/>
          </a:prstGeom>
          <a:ln>
            <a:noFill/>
          </a:ln>
          <a:effectLst>
            <a:outerShdw blurRad="190500" algn="tl" rotWithShape="0">
              <a:srgbClr val="000000">
                <a:alpha val="70000"/>
              </a:srgbClr>
            </a:outerShdw>
          </a:effectLst>
        </p:spPr>
      </p:pic>
    </p:spTree>
    <p:custDataLst>
      <p:tags r:id="rId1"/>
    </p:custDataLst>
    <p:extLst>
      <p:ext uri="{BB962C8B-B14F-4D97-AF65-F5344CB8AC3E}">
        <p14:creationId xmlns:p14="http://schemas.microsoft.com/office/powerpoint/2010/main" val="581890267"/>
      </p:ext>
    </p:extLst>
  </p:cSld>
  <p:clrMapOvr>
    <a:masterClrMapping/>
  </p:clrMapOvr>
  <mc:AlternateContent xmlns:mc="http://schemas.openxmlformats.org/markup-compatibility/2006" xmlns:p14="http://schemas.microsoft.com/office/powerpoint/2010/main">
    <mc:Choice Requires="p14">
      <p:transition spd="slow" p14:dur="2000" advTm="80442"/>
    </mc:Choice>
    <mc:Fallback xmlns="">
      <p:transition spd="slow" advTm="804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75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extLst>
    <p:ext uri="{E180D4A7-C9FB-4DFB-919C-405C955672EB}">
      <p14:showEvtLst xmlns:p14="http://schemas.microsoft.com/office/powerpoint/2010/main">
        <p14:playEvt time="38638" objId="2"/>
        <p14:stopEvt time="75851" objId="2"/>
        <p14:playEvt time="78045" objId="2"/>
        <p14:stopEvt time="80299" objId="2"/>
      </p14:showEvt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E46C2-1F5D-E5EC-D929-17EF8998428F}"/>
              </a:ext>
            </a:extLst>
          </p:cNvPr>
          <p:cNvSpPr>
            <a:spLocks noGrp="1"/>
          </p:cNvSpPr>
          <p:nvPr>
            <p:ph type="title"/>
          </p:nvPr>
        </p:nvSpPr>
        <p:spPr/>
        <p:txBody>
          <a:bodyPr/>
          <a:lstStyle/>
          <a:p>
            <a:r>
              <a:rPr lang="en-US" dirty="0"/>
              <a:t>Evaluation :</a:t>
            </a:r>
          </a:p>
        </p:txBody>
      </p:sp>
      <p:sp>
        <p:nvSpPr>
          <p:cNvPr id="3" name="Rectangle 2">
            <a:extLst>
              <a:ext uri="{FF2B5EF4-FFF2-40B4-BE49-F238E27FC236}">
                <a16:creationId xmlns:a16="http://schemas.microsoft.com/office/drawing/2014/main" id="{715444E7-7CF2-CD38-6CAE-CE63B2BA79C2}"/>
              </a:ext>
            </a:extLst>
          </p:cNvPr>
          <p:cNvSpPr/>
          <p:nvPr/>
        </p:nvSpPr>
        <p:spPr>
          <a:xfrm>
            <a:off x="559398" y="1748118"/>
            <a:ext cx="3388659" cy="18072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b="1" dirty="0">
                <a:solidFill>
                  <a:schemeClr val="bg2">
                    <a:lumMod val="50000"/>
                  </a:schemeClr>
                </a:solidFill>
                <a:latin typeface="Aptos Serif" panose="02020604070405020304" pitchFamily="18" charset="0"/>
                <a:cs typeface="Aptos Serif" panose="02020604070405020304" pitchFamily="18" charset="0"/>
              </a:rPr>
              <a:t>Potential </a:t>
            </a:r>
            <a:r>
              <a:rPr lang="en-US" b="1" dirty="0" err="1">
                <a:solidFill>
                  <a:schemeClr val="bg2">
                    <a:lumMod val="50000"/>
                  </a:schemeClr>
                </a:solidFill>
                <a:latin typeface="Aptos Serif" panose="02020604070405020304" pitchFamily="18" charset="0"/>
                <a:cs typeface="Aptos Serif" panose="02020604070405020304" pitchFamily="18" charset="0"/>
              </a:rPr>
              <a:t>IoCs</a:t>
            </a:r>
            <a:r>
              <a:rPr lang="en-US" b="1" dirty="0">
                <a:solidFill>
                  <a:schemeClr val="bg2">
                    <a:lumMod val="50000"/>
                  </a:schemeClr>
                </a:solidFill>
                <a:latin typeface="Aptos Serif" panose="02020604070405020304" pitchFamily="18" charset="0"/>
                <a:cs typeface="Aptos Serif" panose="02020604070405020304" pitchFamily="18" charset="0"/>
              </a:rPr>
              <a:t> and Robust Detection Rules which can be compatible with any EDR/SIEM tool</a:t>
            </a:r>
          </a:p>
        </p:txBody>
      </p:sp>
      <p:sp>
        <p:nvSpPr>
          <p:cNvPr id="6" name="Rectangle 5">
            <a:extLst>
              <a:ext uri="{FF2B5EF4-FFF2-40B4-BE49-F238E27FC236}">
                <a16:creationId xmlns:a16="http://schemas.microsoft.com/office/drawing/2014/main" id="{247ED1CC-5589-56B3-696C-895F9EB3CB11}"/>
              </a:ext>
            </a:extLst>
          </p:cNvPr>
          <p:cNvSpPr/>
          <p:nvPr/>
        </p:nvSpPr>
        <p:spPr>
          <a:xfrm>
            <a:off x="4320988" y="1748118"/>
            <a:ext cx="3388659" cy="18072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bg2">
                    <a:lumMod val="50000"/>
                  </a:schemeClr>
                </a:solidFill>
                <a:latin typeface="Aptos Serif" panose="02020604070405020304" pitchFamily="18" charset="0"/>
                <a:cs typeface="Aptos Serif" panose="02020604070405020304" pitchFamily="18" charset="0"/>
              </a:rPr>
              <a:t>Elevating threat intel feed,</a:t>
            </a:r>
          </a:p>
          <a:p>
            <a:pPr algn="ctr"/>
            <a:r>
              <a:rPr lang="en-US" b="1" dirty="0">
                <a:solidFill>
                  <a:schemeClr val="bg2">
                    <a:lumMod val="50000"/>
                  </a:schemeClr>
                </a:solidFill>
                <a:latin typeface="Aptos Serif" panose="02020604070405020304" pitchFamily="18" charset="0"/>
                <a:cs typeface="Aptos Serif" panose="02020604070405020304" pitchFamily="18" charset="0"/>
              </a:rPr>
              <a:t>Pushing to Open Source Projects like </a:t>
            </a:r>
            <a:r>
              <a:rPr lang="en-US" b="1" dirty="0" err="1">
                <a:solidFill>
                  <a:schemeClr val="bg2">
                    <a:lumMod val="50000"/>
                  </a:schemeClr>
                </a:solidFill>
                <a:latin typeface="Aptos Serif" panose="02020604070405020304" pitchFamily="18" charset="0"/>
                <a:cs typeface="Aptos Serif" panose="02020604070405020304" pitchFamily="18" charset="0"/>
              </a:rPr>
              <a:t>PyMISP</a:t>
            </a:r>
            <a:r>
              <a:rPr lang="en-US" b="1" dirty="0">
                <a:solidFill>
                  <a:schemeClr val="bg2">
                    <a:lumMod val="50000"/>
                  </a:schemeClr>
                </a:solidFill>
                <a:latin typeface="Aptos Serif" panose="02020604070405020304" pitchFamily="18" charset="0"/>
                <a:cs typeface="Aptos Serif" panose="02020604070405020304" pitchFamily="18" charset="0"/>
              </a:rPr>
              <a:t>, </a:t>
            </a:r>
            <a:r>
              <a:rPr lang="en-US" b="1" dirty="0" err="1">
                <a:solidFill>
                  <a:schemeClr val="bg2">
                    <a:lumMod val="50000"/>
                  </a:schemeClr>
                </a:solidFill>
                <a:latin typeface="Aptos Serif" panose="02020604070405020304" pitchFamily="18" charset="0"/>
                <a:cs typeface="Aptos Serif" panose="02020604070405020304" pitchFamily="18" charset="0"/>
              </a:rPr>
              <a:t>IntelOwl</a:t>
            </a:r>
            <a:endParaRPr lang="en-US" b="1" dirty="0">
              <a:solidFill>
                <a:schemeClr val="bg2">
                  <a:lumMod val="50000"/>
                </a:schemeClr>
              </a:solidFill>
              <a:latin typeface="Aptos Serif" panose="02020604070405020304" pitchFamily="18" charset="0"/>
              <a:cs typeface="Aptos Serif" panose="02020604070405020304" pitchFamily="18" charset="0"/>
            </a:endParaRPr>
          </a:p>
        </p:txBody>
      </p:sp>
      <p:sp>
        <p:nvSpPr>
          <p:cNvPr id="7" name="Rectangle 6">
            <a:extLst>
              <a:ext uri="{FF2B5EF4-FFF2-40B4-BE49-F238E27FC236}">
                <a16:creationId xmlns:a16="http://schemas.microsoft.com/office/drawing/2014/main" id="{06CDB426-4B3F-54C0-38C4-D42B1EF5372D}"/>
              </a:ext>
            </a:extLst>
          </p:cNvPr>
          <p:cNvSpPr/>
          <p:nvPr/>
        </p:nvSpPr>
        <p:spPr>
          <a:xfrm>
            <a:off x="8035962" y="1748118"/>
            <a:ext cx="3388659" cy="18072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solidFill>
                  <a:schemeClr val="bg2">
                    <a:lumMod val="50000"/>
                  </a:schemeClr>
                </a:solidFill>
                <a:latin typeface="Aptos Serif" panose="02020604070405020304" pitchFamily="18" charset="0"/>
                <a:cs typeface="Aptos Serif" panose="02020604070405020304" pitchFamily="18" charset="0"/>
              </a:rPr>
              <a:t>Survey</a:t>
            </a:r>
          </a:p>
        </p:txBody>
      </p:sp>
      <p:pic>
        <p:nvPicPr>
          <p:cNvPr id="1026" name="Picture 2" descr="Create an import script for MISP , step-by-step tutorial">
            <a:extLst>
              <a:ext uri="{FF2B5EF4-FFF2-40B4-BE49-F238E27FC236}">
                <a16:creationId xmlns:a16="http://schemas.microsoft.com/office/drawing/2014/main" id="{21E857AA-6214-E62D-F575-F796F00E9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113" y="3634051"/>
            <a:ext cx="1687887" cy="12818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imaCharlie sponsors the Intel Owl open source project — LimaCharlie.io">
            <a:extLst>
              <a:ext uri="{FF2B5EF4-FFF2-40B4-BE49-F238E27FC236}">
                <a16:creationId xmlns:a16="http://schemas.microsoft.com/office/drawing/2014/main" id="{F95995D9-5E8A-EAE1-9E11-A91A25E250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6781" y="4856860"/>
            <a:ext cx="1947864" cy="53439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OSSIM gets stuck on grey screen after successful Installation | AT&amp;T  Cybersecurity">
            <a:extLst>
              <a:ext uri="{FF2B5EF4-FFF2-40B4-BE49-F238E27FC236}">
                <a16:creationId xmlns:a16="http://schemas.microsoft.com/office/drawing/2014/main" id="{760BDF84-C45B-9F68-8EB8-6F1BE0C1E7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3634051"/>
            <a:ext cx="1196466" cy="1048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938918"/>
      </p:ext>
    </p:extLst>
  </p:cSld>
  <p:clrMapOvr>
    <a:masterClrMapping/>
  </p:clrMapOvr>
  <mc:AlternateContent xmlns:mc="http://schemas.openxmlformats.org/markup-compatibility/2006" xmlns:p14="http://schemas.microsoft.com/office/powerpoint/2010/main">
    <mc:Choice Requires="p14">
      <p:transition spd="slow" p14:dur="2000" advTm="38794"/>
    </mc:Choice>
    <mc:Fallback xmlns="">
      <p:transition spd="slow" advTm="3879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361C-4CBB-D22B-3200-8194C70FE735}"/>
              </a:ext>
            </a:extLst>
          </p:cNvPr>
          <p:cNvSpPr>
            <a:spLocks noGrp="1"/>
          </p:cNvSpPr>
          <p:nvPr>
            <p:ph type="title"/>
          </p:nvPr>
        </p:nvSpPr>
        <p:spPr/>
        <p:txBody>
          <a:bodyPr/>
          <a:lstStyle/>
          <a:p>
            <a:r>
              <a:rPr lang="en-US" dirty="0"/>
              <a:t>Future Scope and final deliverables</a:t>
            </a:r>
          </a:p>
        </p:txBody>
      </p:sp>
      <p:sp>
        <p:nvSpPr>
          <p:cNvPr id="3" name="Text Placeholder 2">
            <a:extLst>
              <a:ext uri="{FF2B5EF4-FFF2-40B4-BE49-F238E27FC236}">
                <a16:creationId xmlns:a16="http://schemas.microsoft.com/office/drawing/2014/main" id="{DAF2C2EA-3264-2AED-E601-B814F631F725}"/>
              </a:ext>
            </a:extLst>
          </p:cNvPr>
          <p:cNvSpPr>
            <a:spLocks noGrp="1"/>
          </p:cNvSpPr>
          <p:nvPr>
            <p:ph type="body" idx="1"/>
          </p:nvPr>
        </p:nvSpPr>
        <p:spPr>
          <a:xfrm>
            <a:off x="379048" y="1387606"/>
            <a:ext cx="5615353" cy="4225652"/>
          </a:xfrm>
        </p:spPr>
        <p:txBody>
          <a:bodyPr>
            <a:normAutofit/>
          </a:bodyPr>
          <a:lstStyle/>
          <a:p>
            <a:r>
              <a:rPr lang="en-US" sz="2000" dirty="0">
                <a:latin typeface="Aptos Serif" panose="02020604070405020304" pitchFamily="18" charset="0"/>
                <a:cs typeface="Aptos Serif" panose="02020604070405020304" pitchFamily="18" charset="0"/>
              </a:rPr>
              <a:t>For other OS such as Linux, MacOS </a:t>
            </a:r>
          </a:p>
          <a:p>
            <a:r>
              <a:rPr lang="en-US" sz="2000" dirty="0">
                <a:latin typeface="Aptos Serif" panose="02020604070405020304" pitchFamily="18" charset="0"/>
                <a:cs typeface="Aptos Serif" panose="02020604070405020304" pitchFamily="18" charset="0"/>
              </a:rPr>
              <a:t>Analyzing applications for potential OWASP vulnerabilities</a:t>
            </a:r>
          </a:p>
          <a:p>
            <a:r>
              <a:rPr lang="en-US" sz="2000" dirty="0">
                <a:latin typeface="Aptos Serif" panose="02020604070405020304" pitchFamily="18" charset="0"/>
                <a:cs typeface="Aptos Serif" panose="02020604070405020304" pitchFamily="18" charset="0"/>
              </a:rPr>
              <a:t>Program analysis : Automating extraction of </a:t>
            </a:r>
            <a:r>
              <a:rPr lang="en-US" sz="2000" dirty="0" err="1">
                <a:latin typeface="Aptos Serif" panose="02020604070405020304" pitchFamily="18" charset="0"/>
                <a:cs typeface="Aptos Serif" panose="02020604070405020304" pitchFamily="18" charset="0"/>
              </a:rPr>
              <a:t>IoCs</a:t>
            </a:r>
            <a:r>
              <a:rPr lang="en-US" sz="2000" dirty="0">
                <a:latin typeface="Aptos Serif" panose="02020604070405020304" pitchFamily="18" charset="0"/>
                <a:cs typeface="Aptos Serif" panose="02020604070405020304" pitchFamily="18" charset="0"/>
              </a:rPr>
              <a:t> maintaining minimum false positives</a:t>
            </a:r>
          </a:p>
          <a:p>
            <a:r>
              <a:rPr lang="en-US" sz="2000" dirty="0">
                <a:latin typeface="Aptos Serif" panose="02020604070405020304" pitchFamily="18" charset="0"/>
                <a:cs typeface="Aptos Serif" panose="02020604070405020304" pitchFamily="18" charset="0"/>
              </a:rPr>
              <a:t>Adding </a:t>
            </a:r>
            <a:r>
              <a:rPr lang="en-US" sz="2000" dirty="0" err="1">
                <a:latin typeface="Aptos Serif" panose="02020604070405020304" pitchFamily="18" charset="0"/>
                <a:cs typeface="Aptos Serif" panose="02020604070405020304" pitchFamily="18" charset="0"/>
              </a:rPr>
              <a:t>Pasword</a:t>
            </a:r>
            <a:r>
              <a:rPr lang="en-US" sz="2000" dirty="0">
                <a:latin typeface="Aptos Serif" panose="02020604070405020304" pitchFamily="18" charset="0"/>
                <a:cs typeface="Aptos Serif" panose="02020604070405020304" pitchFamily="18" charset="0"/>
              </a:rPr>
              <a:t> Cracking Tools, Network Scanning Tools, </a:t>
            </a:r>
            <a:r>
              <a:rPr lang="en-US" sz="2000" dirty="0" err="1">
                <a:latin typeface="Aptos Serif" panose="02020604070405020304" pitchFamily="18" charset="0"/>
                <a:cs typeface="Aptos Serif" panose="02020604070405020304" pitchFamily="18" charset="0"/>
              </a:rPr>
              <a:t>Vulnerabilty</a:t>
            </a:r>
            <a:r>
              <a:rPr lang="en-US" sz="2000" dirty="0">
                <a:latin typeface="Aptos Serif" panose="02020604070405020304" pitchFamily="18" charset="0"/>
                <a:cs typeface="Aptos Serif" panose="02020604070405020304" pitchFamily="18" charset="0"/>
              </a:rPr>
              <a:t> Scanners</a:t>
            </a:r>
          </a:p>
          <a:p>
            <a:endParaRPr lang="en-US" sz="2000" b="1" dirty="0">
              <a:latin typeface="Aptos Serif" panose="02020604070405020304" pitchFamily="18" charset="0"/>
              <a:cs typeface="Aptos Serif" panose="02020604070405020304" pitchFamily="18" charset="0"/>
            </a:endParaRPr>
          </a:p>
        </p:txBody>
      </p:sp>
      <p:sp>
        <p:nvSpPr>
          <p:cNvPr id="4" name="Text Placeholder 3">
            <a:extLst>
              <a:ext uri="{FF2B5EF4-FFF2-40B4-BE49-F238E27FC236}">
                <a16:creationId xmlns:a16="http://schemas.microsoft.com/office/drawing/2014/main" id="{474E0851-CB90-D5A4-C4A5-423B1E89C274}"/>
              </a:ext>
            </a:extLst>
          </p:cNvPr>
          <p:cNvSpPr>
            <a:spLocks noGrp="1"/>
          </p:cNvSpPr>
          <p:nvPr>
            <p:ph type="body" idx="2"/>
          </p:nvPr>
        </p:nvSpPr>
        <p:spPr>
          <a:xfrm>
            <a:off x="6197600" y="1387606"/>
            <a:ext cx="5613400" cy="4225652"/>
          </a:xfrm>
        </p:spPr>
        <p:txBody>
          <a:bodyPr/>
          <a:lstStyle/>
          <a:p>
            <a:r>
              <a:rPr lang="en-US" sz="2000" b="1" dirty="0">
                <a:latin typeface="Aptos Serif" panose="02020604070405020304" pitchFamily="18" charset="0"/>
                <a:cs typeface="Aptos Serif" panose="02020604070405020304" pitchFamily="18" charset="0"/>
              </a:rPr>
              <a:t>Final deliverables</a:t>
            </a:r>
          </a:p>
          <a:p>
            <a:pPr marL="114300" indent="0">
              <a:buNone/>
            </a:pPr>
            <a:r>
              <a:rPr lang="en-US" sz="1900" b="1" dirty="0">
                <a:latin typeface="Aptos Serif" panose="02020604070405020304" pitchFamily="18" charset="0"/>
                <a:cs typeface="Aptos Serif" panose="02020604070405020304" pitchFamily="18" charset="0"/>
              </a:rPr>
              <a:t>- Python based lightweight command-line tool which can be easily used by IR/investigators for extracting </a:t>
            </a:r>
            <a:r>
              <a:rPr lang="en-US" sz="1900" b="1" dirty="0" err="1">
                <a:latin typeface="Aptos Serif" panose="02020604070405020304" pitchFamily="18" charset="0"/>
                <a:cs typeface="Aptos Serif" panose="02020604070405020304" pitchFamily="18" charset="0"/>
              </a:rPr>
              <a:t>IoCs</a:t>
            </a:r>
            <a:r>
              <a:rPr lang="en-US" sz="1900" b="1" dirty="0">
                <a:latin typeface="Aptos Serif" panose="02020604070405020304" pitchFamily="18" charset="0"/>
                <a:cs typeface="Aptos Serif" panose="02020604070405020304" pitchFamily="18" charset="0"/>
              </a:rPr>
              <a:t> and integrate them with in-house SIEM/EDR tools.</a:t>
            </a:r>
          </a:p>
          <a:p>
            <a:pPr marL="114300" indent="0">
              <a:buNone/>
            </a:pPr>
            <a:r>
              <a:rPr lang="en-US" sz="1900" b="1" dirty="0">
                <a:latin typeface="Aptos Serif" panose="02020604070405020304" pitchFamily="18" charset="0"/>
                <a:cs typeface="Aptos Serif" panose="02020604070405020304" pitchFamily="18" charset="0"/>
              </a:rPr>
              <a:t>- Contributing all the </a:t>
            </a:r>
            <a:r>
              <a:rPr lang="en-US" sz="1900" b="1" dirty="0" err="1">
                <a:latin typeface="Aptos Serif" panose="02020604070405020304" pitchFamily="18" charset="0"/>
                <a:cs typeface="Aptos Serif" panose="02020604070405020304" pitchFamily="18" charset="0"/>
              </a:rPr>
              <a:t>IoCs</a:t>
            </a:r>
            <a:r>
              <a:rPr lang="en-US" sz="1900" b="1" dirty="0">
                <a:latin typeface="Aptos Serif" panose="02020604070405020304" pitchFamily="18" charset="0"/>
                <a:cs typeface="Aptos Serif" panose="02020604070405020304" pitchFamily="18" charset="0"/>
              </a:rPr>
              <a:t> to </a:t>
            </a:r>
            <a:r>
              <a:rPr lang="en-US" sz="1900" b="1" dirty="0" err="1">
                <a:latin typeface="Aptos Serif" panose="02020604070405020304" pitchFamily="18" charset="0"/>
                <a:cs typeface="Aptos Serif" panose="02020604070405020304" pitchFamily="18" charset="0"/>
              </a:rPr>
              <a:t>PyMISP</a:t>
            </a:r>
            <a:r>
              <a:rPr lang="en-US" sz="1900" b="1" dirty="0">
                <a:latin typeface="Aptos Serif" panose="02020604070405020304" pitchFamily="18" charset="0"/>
                <a:cs typeface="Aptos Serif" panose="02020604070405020304" pitchFamily="18" charset="0"/>
              </a:rPr>
              <a:t> threat intel feed</a:t>
            </a:r>
          </a:p>
          <a:p>
            <a:pPr marL="114300" indent="0">
              <a:buNone/>
            </a:pPr>
            <a:endParaRPr lang="en-US" sz="2000" b="1" dirty="0">
              <a:latin typeface="Aptos Serif" panose="02020604070405020304" pitchFamily="18" charset="0"/>
              <a:cs typeface="Aptos Serif" panose="02020604070405020304" pitchFamily="18" charset="0"/>
            </a:endParaRPr>
          </a:p>
        </p:txBody>
      </p:sp>
    </p:spTree>
    <p:extLst>
      <p:ext uri="{BB962C8B-B14F-4D97-AF65-F5344CB8AC3E}">
        <p14:creationId xmlns:p14="http://schemas.microsoft.com/office/powerpoint/2010/main" val="3448189059"/>
      </p:ext>
    </p:extLst>
  </p:cSld>
  <p:clrMapOvr>
    <a:masterClrMapping/>
  </p:clrMapOvr>
  <mc:AlternateContent xmlns:mc="http://schemas.openxmlformats.org/markup-compatibility/2006" xmlns:p14="http://schemas.microsoft.com/office/powerpoint/2010/main">
    <mc:Choice Requires="p14">
      <p:transition spd="slow" p14:dur="2000" advTm="63812"/>
    </mc:Choice>
    <mc:Fallback xmlns="">
      <p:transition spd="slow" advTm="63812"/>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6.8"/>
</p:tagLst>
</file>

<file path=ppt/tags/tag2.xml><?xml version="1.0" encoding="utf-8"?>
<p:tagLst xmlns:a="http://schemas.openxmlformats.org/drawingml/2006/main" xmlns:r="http://schemas.openxmlformats.org/officeDocument/2006/relationships" xmlns:p="http://schemas.openxmlformats.org/presentationml/2006/main">
  <p:tag name="TIMING" val="|78"/>
</p:tagLst>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2152</TotalTime>
  <Words>1621</Words>
  <Application>Microsoft Office PowerPoint</Application>
  <PresentationFormat>Widescreen</PresentationFormat>
  <Paragraphs>110</Paragraphs>
  <Slides>11</Slides>
  <Notes>11</Notes>
  <HiddenSlides>0</HiddenSlides>
  <MMClips>2</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 Serif</vt:lpstr>
      <vt:lpstr>Arial</vt:lpstr>
      <vt:lpstr>Calibri</vt:lpstr>
      <vt:lpstr>Roboto</vt:lpstr>
      <vt:lpstr>Söhne</vt:lpstr>
      <vt:lpstr>Times New Roman</vt:lpstr>
      <vt:lpstr>Custom Design</vt:lpstr>
      <vt:lpstr>1_Custom Design</vt:lpstr>
      <vt:lpstr>Living off The Land Attacks: Applications IoC Generator </vt:lpstr>
      <vt:lpstr>Introduction</vt:lpstr>
      <vt:lpstr>PowerPoint Presentation</vt:lpstr>
      <vt:lpstr>Are Existing Solutions Not Enough ?</vt:lpstr>
      <vt:lpstr>Extraction of Artifacts – Potential IoCs – Plugins – Better Threat Intel Feed </vt:lpstr>
      <vt:lpstr>Selection of Applications </vt:lpstr>
      <vt:lpstr>Testing</vt:lpstr>
      <vt:lpstr>Testing Rounds</vt:lpstr>
      <vt:lpstr>Backend for the tool - WebUI</vt:lpstr>
      <vt:lpstr>Evaluation :</vt:lpstr>
      <vt:lpstr>Future Scope and final deliverables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Living off The Land Attacks: Applications IoC Generator</dc:title>
  <dc:creator>Bang, Vedika</dc:creator>
  <cp:lastModifiedBy>Bang, Vedika</cp:lastModifiedBy>
  <cp:revision>14</cp:revision>
  <dcterms:created xsi:type="dcterms:W3CDTF">2023-11-12T04:41:15Z</dcterms:created>
  <dcterms:modified xsi:type="dcterms:W3CDTF">2024-04-12T06:39:18Z</dcterms:modified>
</cp:coreProperties>
</file>